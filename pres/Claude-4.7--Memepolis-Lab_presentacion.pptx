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760720" y="2103120"/>
            <a:ext cx="3017520" cy="1280160"/>
          </a:xfrm>
          <a:prstGeom prst="rect">
            <a:avLst/>
          </a:prstGeom>
          <a:noFill/>
          <a:ln/>
        </p:spPr>
        <p:txBody>
          <a:bodyPr wrap="square" lIns="0" tIns="0" rIns="0" bIns="0" rtlCol="0" anchor="ctr"/>
          <a:lstStyle/>
          <a:p>
            <a:pPr algn="r" indent="0" marL="0">
              <a:buNone/>
            </a:pPr>
            <a:r>
              <a:rPr lang="en-US" sz="11000" i="1" dirty="0">
                <a:solidFill>
                  <a:srgbClr val="8A8A9E">
                    <a:alpha val="45000"/>
                  </a:srgbClr>
                </a:solidFill>
                <a:latin typeface="Georgia" pitchFamily="34" charset="0"/>
                <a:ea typeface="Georgia" pitchFamily="34" charset="-122"/>
                <a:cs typeface="Georgia" pitchFamily="34" charset="-120"/>
              </a:rPr>
              <a:t>Ψmeme</a:t>
            </a:r>
            <a:endParaRPr lang="en-US" sz="11000" dirty="0"/>
          </a:p>
        </p:txBody>
      </p:sp>
      <p:sp>
        <p:nvSpPr>
          <p:cNvPr id="3" name="Text 1"/>
          <p:cNvSpPr/>
          <p:nvPr/>
        </p:nvSpPr>
        <p:spPr>
          <a:xfrm>
            <a:off x="5760720" y="3246120"/>
            <a:ext cx="3017520" cy="548640"/>
          </a:xfrm>
          <a:prstGeom prst="rect">
            <a:avLst/>
          </a:prstGeom>
          <a:noFill/>
          <a:ln/>
        </p:spPr>
        <p:txBody>
          <a:bodyPr wrap="square" lIns="0" tIns="0" rIns="0" bIns="0" rtlCol="0" anchor="ctr"/>
          <a:lstStyle/>
          <a:p>
            <a:pPr algn="r" indent="0" marL="0">
              <a:buNone/>
            </a:pPr>
            <a:r>
              <a:rPr lang="en-US" sz="3600" i="1" dirty="0">
                <a:solidFill>
                  <a:srgbClr val="8A8A9E">
                    <a:alpha val="45000"/>
                  </a:srgbClr>
                </a:solidFill>
                <a:latin typeface="Georgia" pitchFamily="34" charset="0"/>
                <a:ea typeface="Georgia" pitchFamily="34" charset="-122"/>
                <a:cs typeface="Georgia" pitchFamily="34" charset="-120"/>
              </a:rPr>
              <a:t>= f (ν · α)</a:t>
            </a:r>
            <a:endParaRPr lang="en-US" sz="3600" dirty="0"/>
          </a:p>
        </p:txBody>
      </p:sp>
      <p:sp>
        <p:nvSpPr>
          <p:cNvPr id="4" name="Shape 2"/>
          <p:cNvSpPr/>
          <p:nvPr/>
        </p:nvSpPr>
        <p:spPr>
          <a:xfrm>
            <a:off x="502920" y="1097280"/>
            <a:ext cx="32004" cy="2560320"/>
          </a:xfrm>
          <a:prstGeom prst="rect">
            <a:avLst/>
          </a:prstGeom>
          <a:solidFill>
            <a:srgbClr val="B5270F"/>
          </a:solidFill>
          <a:ln w="12700">
            <a:solidFill>
              <a:srgbClr val="B5270F"/>
            </a:solidFill>
            <a:prstDash val="solid"/>
          </a:ln>
        </p:spPr>
      </p:sp>
      <p:sp>
        <p:nvSpPr>
          <p:cNvPr id="5" name="Text 3"/>
          <p:cNvSpPr/>
          <p:nvPr/>
        </p:nvSpPr>
        <p:spPr>
          <a:xfrm>
            <a:off x="731520" y="822960"/>
            <a:ext cx="5943600" cy="1005840"/>
          </a:xfrm>
          <a:prstGeom prst="rect">
            <a:avLst/>
          </a:prstGeom>
          <a:noFill/>
          <a:ln/>
        </p:spPr>
        <p:txBody>
          <a:bodyPr wrap="square" lIns="0" tIns="0" rIns="0" bIns="0" rtlCol="0" anchor="ctr"/>
          <a:lstStyle/>
          <a:p>
            <a:pPr indent="0" marL="0">
              <a:buNone/>
            </a:pPr>
            <a:r>
              <a:rPr lang="en-US" sz="5400" b="1" dirty="0">
                <a:solidFill>
                  <a:srgbClr val="FAF9F5"/>
                </a:solidFill>
                <a:latin typeface="Georgia" pitchFamily="34" charset="0"/>
                <a:ea typeface="Georgia" pitchFamily="34" charset="-122"/>
                <a:cs typeface="Georgia" pitchFamily="34" charset="-120"/>
              </a:rPr>
              <a:t>Memépolis-Lab</a:t>
            </a:r>
            <a:endParaRPr lang="en-US" sz="5400" dirty="0"/>
          </a:p>
        </p:txBody>
      </p:sp>
      <p:sp>
        <p:nvSpPr>
          <p:cNvPr id="6" name="Text 4"/>
          <p:cNvSpPr/>
          <p:nvPr/>
        </p:nvSpPr>
        <p:spPr>
          <a:xfrm>
            <a:off x="731520" y="1874520"/>
            <a:ext cx="5394960" cy="1280160"/>
          </a:xfrm>
          <a:prstGeom prst="rect">
            <a:avLst/>
          </a:prstGeom>
          <a:noFill/>
          <a:ln/>
        </p:spPr>
        <p:txBody>
          <a:bodyPr wrap="square" lIns="0" tIns="0" rIns="0" bIns="0" rtlCol="0" anchor="ctr"/>
          <a:lstStyle/>
          <a:p>
            <a:pPr indent="0" marL="0">
              <a:lnSpc>
                <a:spcPts val="3000"/>
              </a:lnSpc>
              <a:buNone/>
            </a:pPr>
            <a:r>
              <a:rPr lang="en-US" sz="2000" i="1" dirty="0">
                <a:solidFill>
                  <a:srgbClr val="FAF9F5"/>
                </a:solidFill>
                <a:latin typeface="Georgia" pitchFamily="34" charset="0"/>
                <a:ea typeface="Georgia" pitchFamily="34" charset="-122"/>
                <a:cs typeface="Georgia" pitchFamily="34" charset="-120"/>
              </a:rPr>
              <a:t>Análisis computacional de la erosión epistémica</a:t>
            </a:r>
            <a:endParaRPr lang="en-US" sz="2000" dirty="0"/>
          </a:p>
          <a:p>
            <a:pPr indent="0" marL="0">
              <a:lnSpc>
                <a:spcPts val="3000"/>
              </a:lnSpc>
              <a:buNone/>
            </a:pPr>
            <a:r>
              <a:rPr lang="en-US" sz="2000" i="1" dirty="0">
                <a:solidFill>
                  <a:srgbClr val="FAF9F5"/>
                </a:solidFill>
                <a:latin typeface="Georgia" pitchFamily="34" charset="0"/>
                <a:ea typeface="Georgia" pitchFamily="34" charset="-122"/>
                <a:cs typeface="Georgia" pitchFamily="34" charset="-120"/>
              </a:rPr>
              <a:t>en la comunicación política contemporánea  ·  2023–2026</a:t>
            </a:r>
            <a:endParaRPr lang="en-US" sz="2000" dirty="0"/>
          </a:p>
        </p:txBody>
      </p:sp>
      <p:sp>
        <p:nvSpPr>
          <p:cNvPr id="7" name="Text 5"/>
          <p:cNvSpPr/>
          <p:nvPr/>
        </p:nvSpPr>
        <p:spPr>
          <a:xfrm>
            <a:off x="731520" y="3794760"/>
            <a:ext cx="4572000" cy="914400"/>
          </a:xfrm>
          <a:prstGeom prst="rect">
            <a:avLst/>
          </a:prstGeom>
          <a:noFill/>
          <a:ln/>
        </p:spPr>
        <p:txBody>
          <a:bodyPr wrap="square" lIns="0" tIns="0" rIns="0" bIns="0" rtlCol="0" anchor="ctr"/>
          <a:lstStyle/>
          <a:p>
            <a:pPr indent="0" marL="0">
              <a:buNone/>
            </a:pPr>
            <a:r>
              <a:rPr lang="en-US" sz="1700" b="1" dirty="0">
                <a:solidFill>
                  <a:srgbClr val="FAF9F5"/>
                </a:solidFill>
                <a:latin typeface="Calibri" pitchFamily="34" charset="0"/>
                <a:ea typeface="Calibri" pitchFamily="34" charset="-122"/>
                <a:cs typeface="Calibri" pitchFamily="34" charset="-120"/>
              </a:rPr>
              <a:t>Miguel Moreno Muñoz</a:t>
            </a:r>
            <a:endParaRPr lang="en-US" sz="1700" dirty="0"/>
          </a:p>
          <a:p>
            <a:pPr indent="0" marL="0">
              <a:buNone/>
            </a:pPr>
            <a:r>
              <a:rPr lang="en-US" sz="1400" dirty="0">
                <a:solidFill>
                  <a:srgbClr val="8A8A9E"/>
                </a:solidFill>
                <a:latin typeface="Calibri" pitchFamily="34" charset="0"/>
                <a:ea typeface="Calibri" pitchFamily="34" charset="-122"/>
                <a:cs typeface="Calibri" pitchFamily="34" charset="-120"/>
              </a:rPr>
              <a:t>Universidad de Granada</a:t>
            </a:r>
            <a:endParaRPr lang="en-US" sz="1700" dirty="0"/>
          </a:p>
          <a:p>
            <a:pPr indent="0" marL="0">
              <a:buNone/>
            </a:pPr>
            <a:r>
              <a:rPr lang="en-US" sz="1200" dirty="0">
                <a:solidFill>
                  <a:srgbClr val="8A8A9E"/>
                </a:solidFill>
                <a:latin typeface="Calibri" pitchFamily="34" charset="0"/>
                <a:ea typeface="Calibri" pitchFamily="34" charset="-122"/>
                <a:cs typeface="Calibri" pitchFamily="34" charset="-120"/>
              </a:rPr>
              <a:t>ORCID 0000-0002-0746-9587</a:t>
            </a:r>
            <a:endParaRPr lang="en-US" sz="1700" dirty="0"/>
          </a:p>
        </p:txBody>
      </p:sp>
      <p:sp>
        <p:nvSpPr>
          <p:cNvPr id="8" name="Text 6"/>
          <p:cNvSpPr/>
          <p:nvPr/>
        </p:nvSpPr>
        <p:spPr>
          <a:xfrm>
            <a:off x="5760720" y="4320540"/>
            <a:ext cx="2743200" cy="320040"/>
          </a:xfrm>
          <a:prstGeom prst="rect">
            <a:avLst/>
          </a:prstGeom>
          <a:noFill/>
          <a:ln/>
        </p:spPr>
        <p:txBody>
          <a:bodyPr wrap="square" lIns="0" tIns="0" rIns="0" bIns="0" rtlCol="0" anchor="ctr"/>
          <a:lstStyle/>
          <a:p>
            <a:pPr algn="r" indent="0" marL="0">
              <a:buNone/>
            </a:pPr>
            <a:r>
              <a:rPr lang="en-US" sz="1050" dirty="0">
                <a:solidFill>
                  <a:srgbClr val="8A8A9E"/>
                </a:solidFill>
                <a:latin typeface="Calibri" pitchFamily="34" charset="0"/>
                <a:ea typeface="Calibri" pitchFamily="34" charset="-122"/>
                <a:cs typeface="Calibri" pitchFamily="34" charset="-120"/>
              </a:rPr>
              <a:t>DOI  10.5281/zenodo.XXXXXXX</a:t>
            </a:r>
            <a:endParaRPr lang="en-US" sz="1050" dirty="0"/>
          </a:p>
        </p:txBody>
      </p:sp>
      <p:sp>
        <p:nvSpPr>
          <p:cNvPr id="9" name="Text 7"/>
          <p:cNvSpPr/>
          <p:nvPr/>
        </p:nvSpPr>
        <p:spPr>
          <a:xfrm>
            <a:off x="5760720" y="4640580"/>
            <a:ext cx="2743200" cy="320040"/>
          </a:xfrm>
          <a:prstGeom prst="rect">
            <a:avLst/>
          </a:prstGeom>
          <a:noFill/>
          <a:ln/>
        </p:spPr>
        <p:txBody>
          <a:bodyPr wrap="square" lIns="0" tIns="0" rIns="0" bIns="0" rtlCol="0" anchor="ctr"/>
          <a:lstStyle/>
          <a:p>
            <a:pPr algn="r" indent="0" marL="0">
              <a:buNone/>
            </a:pPr>
            <a:r>
              <a:rPr lang="en-US" sz="1300" i="1" dirty="0">
                <a:solidFill>
                  <a:srgbClr val="8A8A9E"/>
                </a:solidFill>
                <a:latin typeface="Georgia" pitchFamily="34" charset="0"/>
                <a:ea typeface="Georgia" pitchFamily="34" charset="-122"/>
                <a:cs typeface="Georgia"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02  ·  Problema de investigación</a:t>
            </a:r>
            <a:endParaRPr lang="en-US" sz="1000" dirty="0"/>
          </a:p>
        </p:txBody>
      </p:sp>
      <p:sp>
        <p:nvSpPr>
          <p:cNvPr id="3" name="Text 1"/>
          <p:cNvSpPr/>
          <p:nvPr/>
        </p:nvSpPr>
        <p:spPr>
          <a:xfrm>
            <a:off x="502920" y="685800"/>
            <a:ext cx="8229600" cy="822960"/>
          </a:xfrm>
          <a:prstGeom prst="rect">
            <a:avLst/>
          </a:prstGeom>
          <a:noFill/>
          <a:ln/>
        </p:spPr>
        <p:txBody>
          <a:bodyPr wrap="square" lIns="0" tIns="0" rIns="0" bIns="0" rtlCol="0" anchor="ctr"/>
          <a:lstStyle/>
          <a:p>
            <a:pPr indent="0" marL="0">
              <a:buNone/>
            </a:pPr>
            <a:r>
              <a:rPr lang="en-US" sz="3400" b="1" dirty="0">
                <a:solidFill>
                  <a:srgbClr val="1A1A2E"/>
                </a:solidFill>
                <a:latin typeface="Georgia" pitchFamily="34" charset="0"/>
                <a:ea typeface="Georgia" pitchFamily="34" charset="-122"/>
                <a:cs typeface="Georgia" pitchFamily="34" charset="-120"/>
              </a:rPr>
              <a:t>El colapso performativo del liderazgo político</a:t>
            </a:r>
            <a:endParaRPr lang="en-US" sz="3400" dirty="0"/>
          </a:p>
        </p:txBody>
      </p:sp>
      <p:sp>
        <p:nvSpPr>
          <p:cNvPr id="4" name="Text 2"/>
          <p:cNvSpPr/>
          <p:nvPr/>
        </p:nvSpPr>
        <p:spPr>
          <a:xfrm>
            <a:off x="502920" y="1783080"/>
            <a:ext cx="4206240" cy="1920240"/>
          </a:xfrm>
          <a:prstGeom prst="rect">
            <a:avLst/>
          </a:prstGeom>
          <a:noFill/>
          <a:ln/>
        </p:spPr>
        <p:txBody>
          <a:bodyPr wrap="square" lIns="0" tIns="0" rIns="0" bIns="0" rtlCol="0" anchor="ctr"/>
          <a:lstStyle/>
          <a:p>
            <a:pPr indent="0" marL="0">
              <a:lnSpc>
                <a:spcPts val="2600"/>
              </a:lnSpc>
              <a:buNone/>
            </a:pPr>
            <a:r>
              <a:rPr lang="en-US" sz="1700" dirty="0">
                <a:solidFill>
                  <a:srgbClr val="1A1A2E"/>
                </a:solidFill>
                <a:latin typeface="Georgia" pitchFamily="34" charset="0"/>
                <a:ea typeface="Georgia" pitchFamily="34" charset="-122"/>
                <a:cs typeface="Georgia" pitchFamily="34" charset="-120"/>
              </a:rPr>
              <a:t>Un conjunto acotado de liderazgos contemporáneos </a:t>
            </a:r>
            <a:pPr indent="0" marL="0">
              <a:lnSpc>
                <a:spcPts val="2600"/>
              </a:lnSpc>
              <a:buNone/>
            </a:pPr>
            <a:r>
              <a:rPr lang="en-US" sz="1700" i="1" dirty="0">
                <a:solidFill>
                  <a:srgbClr val="1A1A2E"/>
                </a:solidFill>
                <a:latin typeface="Georgia" pitchFamily="34" charset="0"/>
                <a:ea typeface="Georgia" pitchFamily="34" charset="-122"/>
                <a:cs typeface="Georgia" pitchFamily="34" charset="-120"/>
              </a:rPr>
              <a:t>—Trump (2025–26), Milei, Bukele, Netanyahu, Meloni, Orbán— </a:t>
            </a:r>
            <a:pPr indent="0" marL="0">
              <a:lnSpc>
                <a:spcPts val="2600"/>
              </a:lnSpc>
              <a:buNone/>
            </a:pPr>
            <a:r>
              <a:rPr lang="en-US" sz="1700" dirty="0">
                <a:solidFill>
                  <a:srgbClr val="1A1A2E"/>
                </a:solidFill>
                <a:latin typeface="Georgia" pitchFamily="34" charset="0"/>
                <a:ea typeface="Georgia" pitchFamily="34" charset="-122"/>
                <a:cs typeface="Georgia" pitchFamily="34" charset="-120"/>
              </a:rPr>
              <a:t>gobierna en </a:t>
            </a:r>
            <a:pPr indent="0" marL="0">
              <a:lnSpc>
                <a:spcPts val="2600"/>
              </a:lnSpc>
              <a:buNone/>
            </a:pPr>
            <a:r>
              <a:rPr lang="en-US" sz="1700" b="1" dirty="0">
                <a:solidFill>
                  <a:srgbClr val="B5270F"/>
                </a:solidFill>
                <a:latin typeface="Georgia" pitchFamily="34" charset="0"/>
                <a:ea typeface="Georgia" pitchFamily="34" charset="-122"/>
                <a:cs typeface="Georgia" pitchFamily="34" charset="-120"/>
              </a:rPr>
              <a:t>registro memético</a:t>
            </a:r>
            <a:pPr indent="0" marL="0">
              <a:lnSpc>
                <a:spcPts val="2600"/>
              </a:lnSpc>
              <a:buNone/>
            </a:pPr>
            <a:r>
              <a:rPr lang="en-US" sz="1700" dirty="0">
                <a:solidFill>
                  <a:srgbClr val="1A1A2E"/>
                </a:solidFill>
                <a:latin typeface="Georgia" pitchFamily="34" charset="0"/>
                <a:ea typeface="Georgia" pitchFamily="34" charset="-122"/>
                <a:cs typeface="Georgia" pitchFamily="34" charset="-120"/>
              </a:rPr>
              <a:t>.</a:t>
            </a:r>
            <a:endParaRPr lang="en-US" sz="1700" dirty="0"/>
          </a:p>
        </p:txBody>
      </p:sp>
      <p:sp>
        <p:nvSpPr>
          <p:cNvPr id="5" name="Shape 3"/>
          <p:cNvSpPr/>
          <p:nvPr/>
        </p:nvSpPr>
        <p:spPr>
          <a:xfrm>
            <a:off x="5029200" y="1883664"/>
            <a:ext cx="109728" cy="109728"/>
          </a:xfrm>
          <a:prstGeom prst="ellipse">
            <a:avLst/>
          </a:prstGeom>
          <a:solidFill>
            <a:srgbClr val="1D4E89"/>
          </a:solidFill>
          <a:ln w="12700">
            <a:solidFill>
              <a:srgbClr val="1D4E89"/>
            </a:solidFill>
            <a:prstDash val="solid"/>
          </a:ln>
        </p:spPr>
      </p:sp>
      <p:sp>
        <p:nvSpPr>
          <p:cNvPr id="6" name="Text 4"/>
          <p:cNvSpPr/>
          <p:nvPr/>
        </p:nvSpPr>
        <p:spPr>
          <a:xfrm>
            <a:off x="5285232" y="1783080"/>
            <a:ext cx="3657600" cy="256032"/>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Brevedad</a:t>
            </a:r>
            <a:endParaRPr lang="en-US" sz="1250" dirty="0"/>
          </a:p>
        </p:txBody>
      </p:sp>
      <p:sp>
        <p:nvSpPr>
          <p:cNvPr id="7" name="Text 5"/>
          <p:cNvSpPr/>
          <p:nvPr/>
        </p:nvSpPr>
        <p:spPr>
          <a:xfrm>
            <a:off x="5285232" y="2020824"/>
            <a:ext cx="3657600" cy="256032"/>
          </a:xfrm>
          <a:prstGeom prst="rect">
            <a:avLst/>
          </a:prstGeom>
          <a:noFill/>
          <a:ln/>
        </p:spPr>
        <p:txBody>
          <a:bodyPr wrap="square" lIns="0" tIns="0" rIns="0" bIns="0" rtlCol="0" anchor="ctr"/>
          <a:lstStyle/>
          <a:p>
            <a:pPr indent="0" marL="0">
              <a:buNone/>
            </a:pPr>
            <a:r>
              <a:rPr lang="en-US" sz="1100" i="1" dirty="0">
                <a:solidFill>
                  <a:srgbClr val="585870"/>
                </a:solidFill>
                <a:latin typeface="Georgia" pitchFamily="34" charset="0"/>
                <a:ea typeface="Georgia" pitchFamily="34" charset="-122"/>
                <a:cs typeface="Georgia" pitchFamily="34" charset="-120"/>
              </a:rPr>
              <a:t>Unidad argumentativa reducida a la impresión.</a:t>
            </a:r>
            <a:endParaRPr lang="en-US" sz="1100" dirty="0"/>
          </a:p>
        </p:txBody>
      </p:sp>
      <p:sp>
        <p:nvSpPr>
          <p:cNvPr id="8" name="Shape 6"/>
          <p:cNvSpPr/>
          <p:nvPr/>
        </p:nvSpPr>
        <p:spPr>
          <a:xfrm>
            <a:off x="5029200" y="2386584"/>
            <a:ext cx="109728" cy="109728"/>
          </a:xfrm>
          <a:prstGeom prst="ellipse">
            <a:avLst/>
          </a:prstGeom>
          <a:solidFill>
            <a:srgbClr val="1D4E89"/>
          </a:solidFill>
          <a:ln w="12700">
            <a:solidFill>
              <a:srgbClr val="1D4E89"/>
            </a:solidFill>
            <a:prstDash val="solid"/>
          </a:ln>
        </p:spPr>
      </p:sp>
      <p:sp>
        <p:nvSpPr>
          <p:cNvPr id="9" name="Text 7"/>
          <p:cNvSpPr/>
          <p:nvPr/>
        </p:nvSpPr>
        <p:spPr>
          <a:xfrm>
            <a:off x="5285232" y="2286000"/>
            <a:ext cx="3657600" cy="256032"/>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Carga afectiva</a:t>
            </a:r>
            <a:endParaRPr lang="en-US" sz="1250" dirty="0"/>
          </a:p>
        </p:txBody>
      </p:sp>
      <p:sp>
        <p:nvSpPr>
          <p:cNvPr id="10" name="Text 8"/>
          <p:cNvSpPr/>
          <p:nvPr/>
        </p:nvSpPr>
        <p:spPr>
          <a:xfrm>
            <a:off x="5285232" y="2523744"/>
            <a:ext cx="3657600" cy="256032"/>
          </a:xfrm>
          <a:prstGeom prst="rect">
            <a:avLst/>
          </a:prstGeom>
          <a:noFill/>
          <a:ln/>
        </p:spPr>
        <p:txBody>
          <a:bodyPr wrap="square" lIns="0" tIns="0" rIns="0" bIns="0" rtlCol="0" anchor="ctr"/>
          <a:lstStyle/>
          <a:p>
            <a:pPr indent="0" marL="0">
              <a:buNone/>
            </a:pPr>
            <a:r>
              <a:rPr lang="en-US" sz="1100" i="1" dirty="0">
                <a:solidFill>
                  <a:srgbClr val="585870"/>
                </a:solidFill>
                <a:latin typeface="Georgia" pitchFamily="34" charset="0"/>
                <a:ea typeface="Georgia" pitchFamily="34" charset="-122"/>
                <a:cs typeface="Georgia" pitchFamily="34" charset="-120"/>
              </a:rPr>
              <a:t>El afecto precede —y sustituye— a la proposición.</a:t>
            </a:r>
            <a:endParaRPr lang="en-US" sz="1100" dirty="0"/>
          </a:p>
        </p:txBody>
      </p:sp>
      <p:sp>
        <p:nvSpPr>
          <p:cNvPr id="11" name="Shape 9"/>
          <p:cNvSpPr/>
          <p:nvPr/>
        </p:nvSpPr>
        <p:spPr>
          <a:xfrm>
            <a:off x="5029200" y="2889504"/>
            <a:ext cx="109728" cy="109728"/>
          </a:xfrm>
          <a:prstGeom prst="ellipse">
            <a:avLst/>
          </a:prstGeom>
          <a:solidFill>
            <a:srgbClr val="1D4E89"/>
          </a:solidFill>
          <a:ln w="12700">
            <a:solidFill>
              <a:srgbClr val="1D4E89"/>
            </a:solidFill>
            <a:prstDash val="solid"/>
          </a:ln>
        </p:spPr>
      </p:sp>
      <p:sp>
        <p:nvSpPr>
          <p:cNvPr id="12" name="Text 10"/>
          <p:cNvSpPr/>
          <p:nvPr/>
        </p:nvSpPr>
        <p:spPr>
          <a:xfrm>
            <a:off x="5285232" y="2788920"/>
            <a:ext cx="3657600" cy="256032"/>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Indeterminación factual</a:t>
            </a:r>
            <a:endParaRPr lang="en-US" sz="1250" dirty="0"/>
          </a:p>
        </p:txBody>
      </p:sp>
      <p:sp>
        <p:nvSpPr>
          <p:cNvPr id="13" name="Text 11"/>
          <p:cNvSpPr/>
          <p:nvPr/>
        </p:nvSpPr>
        <p:spPr>
          <a:xfrm>
            <a:off x="5285232" y="3026664"/>
            <a:ext cx="3657600" cy="256032"/>
          </a:xfrm>
          <a:prstGeom prst="rect">
            <a:avLst/>
          </a:prstGeom>
          <a:noFill/>
          <a:ln/>
        </p:spPr>
        <p:txBody>
          <a:bodyPr wrap="square" lIns="0" tIns="0" rIns="0" bIns="0" rtlCol="0" anchor="ctr"/>
          <a:lstStyle/>
          <a:p>
            <a:pPr indent="0" marL="0">
              <a:buNone/>
            </a:pPr>
            <a:r>
              <a:rPr lang="en-US" sz="1100" i="1" dirty="0">
                <a:solidFill>
                  <a:srgbClr val="585870"/>
                </a:solidFill>
                <a:latin typeface="Georgia" pitchFamily="34" charset="0"/>
                <a:ea typeface="Georgia" pitchFamily="34" charset="-122"/>
                <a:cs typeface="Georgia" pitchFamily="34" charset="-120"/>
              </a:rPr>
              <a:t>El valor de verdad opera como residuo.</a:t>
            </a:r>
            <a:endParaRPr lang="en-US" sz="1100" dirty="0"/>
          </a:p>
        </p:txBody>
      </p:sp>
      <p:sp>
        <p:nvSpPr>
          <p:cNvPr id="14" name="Shape 12"/>
          <p:cNvSpPr/>
          <p:nvPr/>
        </p:nvSpPr>
        <p:spPr>
          <a:xfrm>
            <a:off x="5029200" y="3392424"/>
            <a:ext cx="109728" cy="109728"/>
          </a:xfrm>
          <a:prstGeom prst="ellipse">
            <a:avLst/>
          </a:prstGeom>
          <a:solidFill>
            <a:srgbClr val="1D4E89"/>
          </a:solidFill>
          <a:ln w="12700">
            <a:solidFill>
              <a:srgbClr val="1D4E89"/>
            </a:solidFill>
            <a:prstDash val="solid"/>
          </a:ln>
        </p:spPr>
      </p:sp>
      <p:sp>
        <p:nvSpPr>
          <p:cNvPr id="15" name="Text 13"/>
          <p:cNvSpPr/>
          <p:nvPr/>
        </p:nvSpPr>
        <p:spPr>
          <a:xfrm>
            <a:off x="5285232" y="3291840"/>
            <a:ext cx="3657600" cy="256032"/>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Redistribución viral</a:t>
            </a:r>
            <a:endParaRPr lang="en-US" sz="1250" dirty="0"/>
          </a:p>
        </p:txBody>
      </p:sp>
      <p:sp>
        <p:nvSpPr>
          <p:cNvPr id="16" name="Text 14"/>
          <p:cNvSpPr/>
          <p:nvPr/>
        </p:nvSpPr>
        <p:spPr>
          <a:xfrm>
            <a:off x="5285232" y="3529584"/>
            <a:ext cx="3657600" cy="256032"/>
          </a:xfrm>
          <a:prstGeom prst="rect">
            <a:avLst/>
          </a:prstGeom>
          <a:noFill/>
          <a:ln/>
        </p:spPr>
        <p:txBody>
          <a:bodyPr wrap="square" lIns="0" tIns="0" rIns="0" bIns="0" rtlCol="0" anchor="ctr"/>
          <a:lstStyle/>
          <a:p>
            <a:pPr indent="0" marL="0">
              <a:buNone/>
            </a:pPr>
            <a:r>
              <a:rPr lang="en-US" sz="1100" i="1" dirty="0">
                <a:solidFill>
                  <a:srgbClr val="585870"/>
                </a:solidFill>
                <a:latin typeface="Georgia" pitchFamily="34" charset="0"/>
                <a:ea typeface="Georgia" pitchFamily="34" charset="-122"/>
                <a:cs typeface="Georgia" pitchFamily="34" charset="-120"/>
              </a:rPr>
              <a:t>Métrica de éxito: circulación, no adecuación.</a:t>
            </a:r>
            <a:endParaRPr lang="en-US" sz="1100" dirty="0"/>
          </a:p>
        </p:txBody>
      </p:sp>
      <p:sp>
        <p:nvSpPr>
          <p:cNvPr id="17" name="Shape 15"/>
          <p:cNvSpPr/>
          <p:nvPr/>
        </p:nvSpPr>
        <p:spPr>
          <a:xfrm>
            <a:off x="502920" y="4114800"/>
            <a:ext cx="8229600" cy="0"/>
          </a:xfrm>
          <a:prstGeom prst="line">
            <a:avLst/>
          </a:prstGeom>
          <a:noFill/>
          <a:ln w="6350">
            <a:solidFill>
              <a:srgbClr val="CDC9B8"/>
            </a:solidFill>
            <a:prstDash val="solid"/>
          </a:ln>
        </p:spPr>
      </p:sp>
      <p:sp>
        <p:nvSpPr>
          <p:cNvPr id="18" name="Text 16"/>
          <p:cNvSpPr/>
          <p:nvPr/>
        </p:nvSpPr>
        <p:spPr>
          <a:xfrm>
            <a:off x="502920" y="4206240"/>
            <a:ext cx="8229600" cy="502920"/>
          </a:xfrm>
          <a:prstGeom prst="rect">
            <a:avLst/>
          </a:prstGeom>
          <a:noFill/>
          <a:ln/>
        </p:spPr>
        <p:txBody>
          <a:bodyPr wrap="square" lIns="0" tIns="0" rIns="0" bIns="0" rtlCol="0" anchor="ctr"/>
          <a:lstStyle/>
          <a:p>
            <a:pPr indent="0" marL="0">
              <a:lnSpc>
                <a:spcPts val="1800"/>
              </a:lnSpc>
              <a:buNone/>
            </a:pPr>
            <a:r>
              <a:rPr lang="en-US" sz="1200" i="1" dirty="0">
                <a:solidFill>
                  <a:srgbClr val="585870"/>
                </a:solidFill>
                <a:latin typeface="Georgia" pitchFamily="34" charset="0"/>
                <a:ea typeface="Georgia" pitchFamily="34" charset="-122"/>
                <a:cs typeface="Georgia" pitchFamily="34" charset="-120"/>
              </a:rPr>
              <a:t>Las instituciones responsivas —prensa, aparato diplomático, fact-checking— responden en registro argumentativo. La asimetría de velocidad convierte la respuesta en comentario tardío.</a:t>
            </a:r>
            <a:endParaRPr lang="en-US" sz="1200" dirty="0"/>
          </a:p>
        </p:txBody>
      </p:sp>
      <p:sp>
        <p:nvSpPr>
          <p:cNvPr id="19" name="Text 17"/>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20" name="Text 18"/>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03  ·  Marco teórico</a:t>
            </a:r>
            <a:endParaRPr lang="en-US" sz="1000" dirty="0"/>
          </a:p>
        </p:txBody>
      </p:sp>
      <p:sp>
        <p:nvSpPr>
          <p:cNvPr id="3" name="Text 1"/>
          <p:cNvSpPr/>
          <p:nvPr/>
        </p:nvSpPr>
        <p:spPr>
          <a:xfrm>
            <a:off x="502920" y="685800"/>
            <a:ext cx="8229600" cy="640080"/>
          </a:xfrm>
          <a:prstGeom prst="rect">
            <a:avLst/>
          </a:prstGeom>
          <a:noFill/>
          <a:ln/>
        </p:spPr>
        <p:txBody>
          <a:bodyPr wrap="square" lIns="0" tIns="0" rIns="0" bIns="0"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Cinco rectas que convergen en el meme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8229600" cy="914400"/>
        </p:xfrm>
        <a:graphic>
          <a:graphicData uri="http://schemas.openxmlformats.org/drawingml/2006/table">
            <a:tbl>
              <a:tblPr/>
              <a:tblGrid>
                <a:gridCol w="2011680"/>
                <a:gridCol w="777240"/>
                <a:gridCol w="2423160"/>
                <a:gridCol w="3017520"/>
              </a:tblGrid>
              <a:tr h="411480">
                <a:tc>
                  <a:txBody>
                    <a:bodyPr/>
                    <a:lstStyle/>
                    <a:p>
                      <a:pPr algn="l" indent="0" marL="0">
                        <a:buNone/>
                      </a:pPr>
                      <a:r>
                        <a:rPr lang="en-US" sz="1200" b="1" dirty="0">
                          <a:solidFill>
                            <a:srgbClr val="FAF9F5"/>
                          </a:solidFill>
                          <a:latin typeface="Calibri" pitchFamily="34" charset="0"/>
                          <a:ea typeface="Calibri" pitchFamily="34" charset="-122"/>
                          <a:cs typeface="Calibri" pitchFamily="34" charset="-120"/>
                        </a:rPr>
                        <a:t>Autor</a:t>
                      </a:r>
                      <a:endParaRPr lang="en-US" sz="1200" dirty="0">
                        <a:latin typeface="Calibri" charset="0"/>
                        <a:ea typeface="Calibri" charset="0"/>
                        <a:cs typeface="Calibri"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1A1A2E"/>
                    </a:solidFill>
                  </a:tcPr>
                </a:tc>
                <a:tc>
                  <a:txBody>
                    <a:bodyPr/>
                    <a:lstStyle/>
                    <a:p>
                      <a:pPr algn="l" indent="0" marL="0">
                        <a:buNone/>
                      </a:pPr>
                      <a:r>
                        <a:rPr lang="en-US" sz="1200" b="1" dirty="0">
                          <a:solidFill>
                            <a:srgbClr val="FAF9F5"/>
                          </a:solidFill>
                          <a:latin typeface="Calibri" pitchFamily="34" charset="0"/>
                          <a:ea typeface="Calibri" pitchFamily="34" charset="-122"/>
                          <a:cs typeface="Calibri" pitchFamily="34" charset="-120"/>
                        </a:rPr>
                        <a:t>Año</a:t>
                      </a:r>
                      <a:endParaRPr lang="en-US" sz="1200" dirty="0">
                        <a:latin typeface="Calibri" charset="0"/>
                        <a:ea typeface="Calibri" charset="0"/>
                        <a:cs typeface="Calibri"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1A1A2E"/>
                    </a:solidFill>
                  </a:tcPr>
                </a:tc>
                <a:tc>
                  <a:txBody>
                    <a:bodyPr/>
                    <a:lstStyle/>
                    <a:p>
                      <a:pPr algn="l" indent="0" marL="0">
                        <a:buNone/>
                      </a:pPr>
                      <a:r>
                        <a:rPr lang="en-US" sz="1200" b="1" dirty="0">
                          <a:solidFill>
                            <a:srgbClr val="FAF9F5"/>
                          </a:solidFill>
                          <a:latin typeface="Calibri" pitchFamily="34" charset="0"/>
                          <a:ea typeface="Calibri" pitchFamily="34" charset="-122"/>
                          <a:cs typeface="Calibri" pitchFamily="34" charset="-120"/>
                        </a:rPr>
                        <a:t>Concepto clave</a:t>
                      </a:r>
                      <a:endParaRPr lang="en-US" sz="1200" dirty="0">
                        <a:latin typeface="Calibri" charset="0"/>
                        <a:ea typeface="Calibri" charset="0"/>
                        <a:cs typeface="Calibri"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1A1A2E"/>
                    </a:solidFill>
                  </a:tcPr>
                </a:tc>
                <a:tc>
                  <a:txBody>
                    <a:bodyPr/>
                    <a:lstStyle/>
                    <a:p>
                      <a:pPr algn="l" indent="0" marL="0">
                        <a:buNone/>
                      </a:pPr>
                      <a:r>
                        <a:rPr lang="en-US" sz="1200" b="1" dirty="0">
                          <a:solidFill>
                            <a:srgbClr val="FAF9F5"/>
                          </a:solidFill>
                          <a:latin typeface="Calibri" pitchFamily="34" charset="0"/>
                          <a:ea typeface="Calibri" pitchFamily="34" charset="-122"/>
                          <a:cs typeface="Calibri" pitchFamily="34" charset="-120"/>
                        </a:rPr>
                        <a:t>Aporte al marco</a:t>
                      </a:r>
                      <a:endParaRPr lang="en-US" sz="1200" dirty="0">
                        <a:latin typeface="Calibri" charset="0"/>
                        <a:ea typeface="Calibri" charset="0"/>
                        <a:cs typeface="Calibri"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1A1A2E"/>
                    </a:solidFill>
                  </a:tcPr>
                </a:tc>
              </a:tr>
              <a:tr h="411480">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Stuart Hall</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ctr" indent="0" marL="0">
                        <a:buNone/>
                      </a:pPr>
                      <a:r>
                        <a:rPr lang="en-US" sz="1300" dirty="0">
                          <a:solidFill>
                            <a:srgbClr val="1A1A2E"/>
                          </a:solidFill>
                          <a:latin typeface="Georgia" pitchFamily="34" charset="0"/>
                          <a:ea typeface="Georgia" pitchFamily="34" charset="-122"/>
                          <a:cs typeface="Georgia" pitchFamily="34" charset="-120"/>
                        </a:rPr>
                        <a:t>1980</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Codificación / decodificación</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Lecturas incompatibles en coexistencia</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r>
              <a:tr h="411480">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Harry Frankfurt</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ctr" indent="0" marL="0">
                        <a:buNone/>
                      </a:pPr>
                      <a:r>
                        <a:rPr lang="en-US" sz="1300" dirty="0">
                          <a:solidFill>
                            <a:srgbClr val="1A1A2E"/>
                          </a:solidFill>
                          <a:latin typeface="Georgia" pitchFamily="34" charset="0"/>
                          <a:ea typeface="Georgia" pitchFamily="34" charset="-122"/>
                          <a:cs typeface="Georgia" pitchFamily="34" charset="-120"/>
                        </a:rPr>
                        <a:t>2005</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i="1" dirty="0">
                          <a:solidFill>
                            <a:srgbClr val="1A1A2E"/>
                          </a:solidFill>
                          <a:latin typeface="Georgia" pitchFamily="34" charset="0"/>
                          <a:ea typeface="Georgia" pitchFamily="34" charset="-122"/>
                          <a:cs typeface="Georgia" pitchFamily="34" charset="-120"/>
                        </a:rPr>
                        <a:t>Bullshit vs. mentira</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Indiferencia al valor de verdad</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r>
              <a:tr h="411480">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Jean Baudrillard</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ctr" indent="0" marL="0">
                        <a:buNone/>
                      </a:pPr>
                      <a:r>
                        <a:rPr lang="en-US" sz="1300" dirty="0">
                          <a:solidFill>
                            <a:srgbClr val="1A1A2E"/>
                          </a:solidFill>
                          <a:latin typeface="Georgia" pitchFamily="34" charset="0"/>
                          <a:ea typeface="Georgia" pitchFamily="34" charset="-122"/>
                          <a:cs typeface="Georgia" pitchFamily="34" charset="-120"/>
                        </a:rPr>
                        <a:t>1994</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Precesión del simulacro</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Disolución gesto ≡ representación</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r>
              <a:tr h="411480">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Jonathan Haidt</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ctr" indent="0" marL="0">
                        <a:buNone/>
                      </a:pPr>
                      <a:r>
                        <a:rPr lang="en-US" sz="1300" dirty="0">
                          <a:solidFill>
                            <a:srgbClr val="1A1A2E"/>
                          </a:solidFill>
                          <a:latin typeface="Georgia" pitchFamily="34" charset="0"/>
                          <a:ea typeface="Georgia" pitchFamily="34" charset="-122"/>
                          <a:cs typeface="Georgia" pitchFamily="34" charset="-120"/>
                        </a:rPr>
                        <a:t>2012</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Epistemología tribal</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Reconocibilidad sobre veracidad</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r>
              <a:tr h="411480">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Mercier &amp; Sperber</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ctr" indent="0" marL="0">
                        <a:buNone/>
                      </a:pPr>
                      <a:r>
                        <a:rPr lang="en-US" sz="1300" dirty="0">
                          <a:solidFill>
                            <a:srgbClr val="1A1A2E"/>
                          </a:solidFill>
                          <a:latin typeface="Georgia" pitchFamily="34" charset="0"/>
                          <a:ea typeface="Georgia" pitchFamily="34" charset="-122"/>
                          <a:cs typeface="Georgia" pitchFamily="34" charset="-120"/>
                        </a:rPr>
                        <a:t>2017</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Razón argumentativa</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c>
                  <a:txBody>
                    <a:bodyPr/>
                    <a:lstStyle/>
                    <a:p>
                      <a:pPr algn="l" indent="0" marL="0">
                        <a:buNone/>
                      </a:pPr>
                      <a:r>
                        <a:rPr lang="en-US" sz="1300" dirty="0">
                          <a:solidFill>
                            <a:srgbClr val="1A1A2E"/>
                          </a:solidFill>
                          <a:latin typeface="Georgia" pitchFamily="34" charset="0"/>
                          <a:ea typeface="Georgia" pitchFamily="34" charset="-122"/>
                          <a:cs typeface="Georgia" pitchFamily="34" charset="-120"/>
                        </a:rPr>
                        <a:t>Razón como recurso retórico grupal</a:t>
                      </a:r>
                      <a:endParaRPr lang="en-US" sz="1300" dirty="0">
                        <a:latin typeface="Georgia" charset="0"/>
                        <a:ea typeface="Georgia" charset="0"/>
                        <a:cs typeface="Georgia" charset="0"/>
                      </a:endParaRPr>
                    </a:p>
                  </a:txBody>
                  <a:tcPr marL="91440" marR="91440" marT="45720" marB="45720" anchor="ctr">
                    <a:lnL w="6350" cap="flat" cmpd="sng" algn="ctr">
                      <a:solidFill>
                        <a:srgbClr val="CDC9B8"/>
                      </a:solidFill>
                      <a:prstDash val="solid"/>
                      <a:round/>
                      <a:headEnd type="none" w="med" len="med"/>
                      <a:tailEnd type="none" w="med" len="med"/>
                    </a:lnL>
                    <a:lnR w="6350" cap="flat" cmpd="sng" algn="ctr">
                      <a:solidFill>
                        <a:srgbClr val="CDC9B8"/>
                      </a:solidFill>
                      <a:prstDash val="solid"/>
                      <a:round/>
                      <a:headEnd type="none" w="med" len="med"/>
                      <a:tailEnd type="none" w="med" len="med"/>
                    </a:lnR>
                    <a:lnT w="6350" cap="flat" cmpd="sng" algn="ctr">
                      <a:solidFill>
                        <a:srgbClr val="CDC9B8"/>
                      </a:solidFill>
                      <a:prstDash val="solid"/>
                      <a:round/>
                      <a:headEnd type="none" w="med" len="med"/>
                      <a:tailEnd type="none" w="med" len="med"/>
                    </a:lnT>
                    <a:lnB w="6350" cap="flat" cmpd="sng" algn="ctr">
                      <a:solidFill>
                        <a:srgbClr val="CDC9B8"/>
                      </a:solidFill>
                      <a:prstDash val="solid"/>
                      <a:round/>
                      <a:headEnd type="none" w="med" len="med"/>
                      <a:tailEnd type="none" w="med" len="med"/>
                    </a:lnB>
                    <a:solidFill>
                      <a:srgbClr val="FAF9F5"/>
                    </a:solidFill>
                  </a:tcPr>
                </a:tc>
              </a:tr>
            </a:tbl>
          </a:graphicData>
        </a:graphic>
      </p:graphicFrame>
      <p:sp>
        <p:nvSpPr>
          <p:cNvPr id="5" name="Text 2"/>
          <p:cNvSpPr/>
          <p:nvPr/>
        </p:nvSpPr>
        <p:spPr>
          <a:xfrm>
            <a:off x="502920" y="4160520"/>
            <a:ext cx="8229600" cy="548640"/>
          </a:xfrm>
          <a:prstGeom prst="rect">
            <a:avLst/>
          </a:prstGeom>
          <a:noFill/>
          <a:ln/>
        </p:spPr>
        <p:txBody>
          <a:bodyPr wrap="square" lIns="0" tIns="0" rIns="0" bIns="0" rtlCol="0" anchor="ctr"/>
          <a:lstStyle/>
          <a:p>
            <a:pPr algn="ctr" indent="0" marL="0">
              <a:buNone/>
            </a:pPr>
            <a:r>
              <a:rPr lang="en-US" sz="1300" i="1" dirty="0">
                <a:solidFill>
                  <a:srgbClr val="585870"/>
                </a:solidFill>
                <a:latin typeface="Georgia" pitchFamily="34" charset="0"/>
                <a:ea typeface="Georgia" pitchFamily="34" charset="-122"/>
                <a:cs typeface="Georgia" pitchFamily="34" charset="-120"/>
              </a:rPr>
              <a:t>Cinco vocabularios incompatibles describen una misma estructura: pertenencia grupal como criterio primario, eficacia viral como métrica de éxito.</a:t>
            </a:r>
            <a:endParaRPr lang="en-US" sz="1300" dirty="0"/>
          </a:p>
        </p:txBody>
      </p:sp>
      <p:sp>
        <p:nvSpPr>
          <p:cNvPr id="6" name="Text 3"/>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7" name="Text 4"/>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04  ·  Pregunta · Hipótesis · Objetivos</a:t>
            </a:r>
            <a:endParaRPr lang="en-US" sz="1000" dirty="0"/>
          </a:p>
        </p:txBody>
      </p:sp>
      <p:sp>
        <p:nvSpPr>
          <p:cNvPr id="3" name="Text 1"/>
          <p:cNvSpPr/>
          <p:nvPr/>
        </p:nvSpPr>
        <p:spPr>
          <a:xfrm>
            <a:off x="502920" y="685800"/>
            <a:ext cx="8229600" cy="640080"/>
          </a:xfrm>
          <a:prstGeom prst="rect">
            <a:avLst/>
          </a:prstGeom>
          <a:noFill/>
          <a:ln/>
        </p:spPr>
        <p:txBody>
          <a:bodyPr wrap="square" lIns="0" tIns="0" rIns="0" bIns="0"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Arquitectura argumentativa</a:t>
            </a:r>
            <a:endParaRPr lang="en-US" sz="3000" dirty="0"/>
          </a:p>
        </p:txBody>
      </p:sp>
      <p:sp>
        <p:nvSpPr>
          <p:cNvPr id="4" name="Shape 2"/>
          <p:cNvSpPr/>
          <p:nvPr/>
        </p:nvSpPr>
        <p:spPr>
          <a:xfrm>
            <a:off x="502920" y="1600200"/>
            <a:ext cx="64008" cy="960120"/>
          </a:xfrm>
          <a:prstGeom prst="rect">
            <a:avLst/>
          </a:prstGeom>
          <a:solidFill>
            <a:srgbClr val="1D4E89"/>
          </a:solidFill>
          <a:ln w="12700">
            <a:solidFill>
              <a:srgbClr val="1D4E89"/>
            </a:solidFill>
            <a:prstDash val="solid"/>
          </a:ln>
        </p:spPr>
      </p:sp>
      <p:sp>
        <p:nvSpPr>
          <p:cNvPr id="5" name="Text 3"/>
          <p:cNvSpPr/>
          <p:nvPr/>
        </p:nvSpPr>
        <p:spPr>
          <a:xfrm>
            <a:off x="731520" y="1645920"/>
            <a:ext cx="2011680" cy="292608"/>
          </a:xfrm>
          <a:prstGeom prst="rect">
            <a:avLst/>
          </a:prstGeom>
          <a:noFill/>
          <a:ln/>
        </p:spPr>
        <p:txBody>
          <a:bodyPr wrap="square" lIns="0" tIns="0" rIns="0" bIns="0" rtlCol="0" anchor="ctr"/>
          <a:lstStyle/>
          <a:p>
            <a:pPr indent="0" marL="0">
              <a:buNone/>
            </a:pPr>
            <a:r>
              <a:rPr lang="en-US" sz="1100" b="1" spc="300" kern="0" dirty="0">
                <a:solidFill>
                  <a:srgbClr val="1D4E89"/>
                </a:solidFill>
                <a:latin typeface="Calibri" pitchFamily="34" charset="0"/>
                <a:ea typeface="Calibri" pitchFamily="34" charset="-122"/>
                <a:cs typeface="Calibri" pitchFamily="34" charset="-120"/>
              </a:rPr>
              <a:t>PREGUNTA</a:t>
            </a:r>
            <a:endParaRPr lang="en-US" sz="1100" dirty="0"/>
          </a:p>
        </p:txBody>
      </p:sp>
      <p:sp>
        <p:nvSpPr>
          <p:cNvPr id="6" name="Text 4"/>
          <p:cNvSpPr/>
          <p:nvPr/>
        </p:nvSpPr>
        <p:spPr>
          <a:xfrm>
            <a:off x="731520" y="1920240"/>
            <a:ext cx="7955280" cy="685800"/>
          </a:xfrm>
          <a:prstGeom prst="rect">
            <a:avLst/>
          </a:prstGeom>
          <a:noFill/>
          <a:ln/>
        </p:spPr>
        <p:txBody>
          <a:bodyPr wrap="square" lIns="0" tIns="0" rIns="0" bIns="0" rtlCol="0" anchor="ctr"/>
          <a:lstStyle/>
          <a:p>
            <a:pPr indent="0" marL="0">
              <a:lnSpc>
                <a:spcPts val="2200"/>
              </a:lnSpc>
              <a:buNone/>
            </a:pPr>
            <a:r>
              <a:rPr lang="en-US" sz="1450" dirty="0">
                <a:solidFill>
                  <a:srgbClr val="1A1A2E"/>
                </a:solidFill>
                <a:latin typeface="Georgia" pitchFamily="34" charset="0"/>
                <a:ea typeface="Georgia" pitchFamily="34" charset="-122"/>
                <a:cs typeface="Georgia" pitchFamily="34" charset="-120"/>
              </a:rPr>
              <a:t>¿En qué medida la comunicación política contemporánea se ha reorganizado en torno a una economía de la redistribución viral y con qué consecuencias epistémicas?</a:t>
            </a:r>
            <a:endParaRPr lang="en-US" sz="1450" dirty="0"/>
          </a:p>
        </p:txBody>
      </p:sp>
      <p:sp>
        <p:nvSpPr>
          <p:cNvPr id="7" name="Shape 5"/>
          <p:cNvSpPr/>
          <p:nvPr/>
        </p:nvSpPr>
        <p:spPr>
          <a:xfrm>
            <a:off x="502920" y="2670048"/>
            <a:ext cx="64008" cy="960120"/>
          </a:xfrm>
          <a:prstGeom prst="rect">
            <a:avLst/>
          </a:prstGeom>
          <a:solidFill>
            <a:srgbClr val="B5270F"/>
          </a:solidFill>
          <a:ln w="12700">
            <a:solidFill>
              <a:srgbClr val="B5270F"/>
            </a:solidFill>
            <a:prstDash val="solid"/>
          </a:ln>
        </p:spPr>
      </p:sp>
      <p:sp>
        <p:nvSpPr>
          <p:cNvPr id="8" name="Text 6"/>
          <p:cNvSpPr/>
          <p:nvPr/>
        </p:nvSpPr>
        <p:spPr>
          <a:xfrm>
            <a:off x="731520" y="2715768"/>
            <a:ext cx="2011680" cy="292608"/>
          </a:xfrm>
          <a:prstGeom prst="rect">
            <a:avLst/>
          </a:prstGeom>
          <a:noFill/>
          <a:ln/>
        </p:spPr>
        <p:txBody>
          <a:bodyPr wrap="square" lIns="0" tIns="0" rIns="0" bIns="0" rtlCol="0" anchor="ctr"/>
          <a:lstStyle/>
          <a:p>
            <a:pPr indent="0" marL="0">
              <a:buNone/>
            </a:pPr>
            <a:r>
              <a:rPr lang="en-US" sz="1100" b="1" spc="300" kern="0" dirty="0">
                <a:solidFill>
                  <a:srgbClr val="B5270F"/>
                </a:solidFill>
                <a:latin typeface="Calibri" pitchFamily="34" charset="0"/>
                <a:ea typeface="Calibri" pitchFamily="34" charset="-122"/>
                <a:cs typeface="Calibri" pitchFamily="34" charset="-120"/>
              </a:rPr>
              <a:t>HIPÓTESIS</a:t>
            </a:r>
            <a:endParaRPr lang="en-US" sz="1100" dirty="0"/>
          </a:p>
        </p:txBody>
      </p:sp>
      <p:sp>
        <p:nvSpPr>
          <p:cNvPr id="9" name="Text 7"/>
          <p:cNvSpPr/>
          <p:nvPr/>
        </p:nvSpPr>
        <p:spPr>
          <a:xfrm>
            <a:off x="731520" y="2990088"/>
            <a:ext cx="7955280" cy="685800"/>
          </a:xfrm>
          <a:prstGeom prst="rect">
            <a:avLst/>
          </a:prstGeom>
          <a:noFill/>
          <a:ln/>
        </p:spPr>
        <p:txBody>
          <a:bodyPr wrap="square" lIns="0" tIns="0" rIns="0" bIns="0" rtlCol="0" anchor="ctr"/>
          <a:lstStyle/>
          <a:p>
            <a:pPr indent="0" marL="0">
              <a:lnSpc>
                <a:spcPts val="2200"/>
              </a:lnSpc>
              <a:buNone/>
            </a:pPr>
            <a:r>
              <a:rPr lang="en-US" sz="1450" dirty="0">
                <a:solidFill>
                  <a:srgbClr val="1A1A2E"/>
                </a:solidFill>
                <a:latin typeface="Georgia" pitchFamily="34" charset="0"/>
                <a:ea typeface="Georgia" pitchFamily="34" charset="-122"/>
                <a:cs typeface="Georgia" pitchFamily="34" charset="-120"/>
              </a:rPr>
              <a:t>El liderazgo memético es una adaptación óptima al ecosistema; las respuestas institucionales fracasan por incompatibilidad estructural de registro, no por insuficiencia técnica.</a:t>
            </a:r>
            <a:endParaRPr lang="en-US" sz="1450" dirty="0"/>
          </a:p>
        </p:txBody>
      </p:sp>
      <p:sp>
        <p:nvSpPr>
          <p:cNvPr id="10" name="Shape 8"/>
          <p:cNvSpPr/>
          <p:nvPr/>
        </p:nvSpPr>
        <p:spPr>
          <a:xfrm>
            <a:off x="502920" y="3739896"/>
            <a:ext cx="64008" cy="960120"/>
          </a:xfrm>
          <a:prstGeom prst="rect">
            <a:avLst/>
          </a:prstGeom>
          <a:solidFill>
            <a:srgbClr val="1A7A4A"/>
          </a:solidFill>
          <a:ln w="12700">
            <a:solidFill>
              <a:srgbClr val="1A7A4A"/>
            </a:solidFill>
            <a:prstDash val="solid"/>
          </a:ln>
        </p:spPr>
      </p:sp>
      <p:sp>
        <p:nvSpPr>
          <p:cNvPr id="11" name="Text 9"/>
          <p:cNvSpPr/>
          <p:nvPr/>
        </p:nvSpPr>
        <p:spPr>
          <a:xfrm>
            <a:off x="731520" y="3785616"/>
            <a:ext cx="2011680" cy="292608"/>
          </a:xfrm>
          <a:prstGeom prst="rect">
            <a:avLst/>
          </a:prstGeom>
          <a:noFill/>
          <a:ln/>
        </p:spPr>
        <p:txBody>
          <a:bodyPr wrap="square" lIns="0" tIns="0" rIns="0" bIns="0" rtlCol="0" anchor="ctr"/>
          <a:lstStyle/>
          <a:p>
            <a:pPr indent="0" marL="0">
              <a:buNone/>
            </a:pPr>
            <a:r>
              <a:rPr lang="en-US" sz="1100" b="1" spc="300" kern="0" dirty="0">
                <a:solidFill>
                  <a:srgbClr val="1A7A4A"/>
                </a:solidFill>
                <a:latin typeface="Calibri" pitchFamily="34" charset="0"/>
                <a:ea typeface="Calibri" pitchFamily="34" charset="-122"/>
                <a:cs typeface="Calibri" pitchFamily="34" charset="-120"/>
              </a:rPr>
              <a:t>OBJETIVOS</a:t>
            </a:r>
            <a:endParaRPr lang="en-US" sz="1100" dirty="0"/>
          </a:p>
        </p:txBody>
      </p:sp>
      <p:sp>
        <p:nvSpPr>
          <p:cNvPr id="12" name="Text 10"/>
          <p:cNvSpPr/>
          <p:nvPr/>
        </p:nvSpPr>
        <p:spPr>
          <a:xfrm>
            <a:off x="731520" y="4059936"/>
            <a:ext cx="7955280" cy="685800"/>
          </a:xfrm>
          <a:prstGeom prst="rect">
            <a:avLst/>
          </a:prstGeom>
          <a:noFill/>
          <a:ln/>
        </p:spPr>
        <p:txBody>
          <a:bodyPr wrap="square" lIns="0" tIns="0" rIns="0" bIns="0" rtlCol="0" anchor="ctr"/>
          <a:lstStyle/>
          <a:p>
            <a:pPr indent="0" marL="0">
              <a:lnSpc>
                <a:spcPts val="2200"/>
              </a:lnSpc>
              <a:buNone/>
            </a:pPr>
            <a:r>
              <a:rPr lang="en-US" sz="1450" dirty="0">
                <a:solidFill>
                  <a:srgbClr val="1A1A2E"/>
                </a:solidFill>
                <a:latin typeface="Georgia" pitchFamily="34" charset="0"/>
                <a:ea typeface="Georgia" pitchFamily="34" charset="-122"/>
                <a:cs typeface="Georgia" pitchFamily="34" charset="-120"/>
              </a:rPr>
              <a:t>(1) Construir un marco de convergencia; (2) documentar un corpus codificado 2023–2026; (3) derivar implicaciones para comunicación política y universidad pública.</a:t>
            </a:r>
            <a:endParaRPr lang="en-US" sz="1450" dirty="0"/>
          </a:p>
        </p:txBody>
      </p:sp>
      <p:sp>
        <p:nvSpPr>
          <p:cNvPr id="13" name="Text 11"/>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14" name="Text 12"/>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05  ·  Metodología y corpus</a:t>
            </a:r>
            <a:endParaRPr lang="en-US" sz="1000" dirty="0"/>
          </a:p>
        </p:txBody>
      </p:sp>
      <p:sp>
        <p:nvSpPr>
          <p:cNvPr id="3" name="Text 1"/>
          <p:cNvSpPr/>
          <p:nvPr/>
        </p:nvSpPr>
        <p:spPr>
          <a:xfrm>
            <a:off x="502920" y="685800"/>
            <a:ext cx="8229600" cy="640080"/>
          </a:xfrm>
          <a:prstGeom prst="rect">
            <a:avLst/>
          </a:prstGeom>
          <a:noFill/>
          <a:ln/>
        </p:spPr>
        <p:txBody>
          <a:bodyPr wrap="square" lIns="0" tIns="0" rIns="0" bIns="0"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Diseño mixto secuencial</a:t>
            </a:r>
            <a:endParaRPr lang="en-US" sz="3000" dirty="0"/>
          </a:p>
        </p:txBody>
      </p:sp>
      <p:sp>
        <p:nvSpPr>
          <p:cNvPr id="4" name="Text 2"/>
          <p:cNvSpPr/>
          <p:nvPr/>
        </p:nvSpPr>
        <p:spPr>
          <a:xfrm>
            <a:off x="502920" y="1554480"/>
            <a:ext cx="4114800" cy="274320"/>
          </a:xfrm>
          <a:prstGeom prst="rect">
            <a:avLst/>
          </a:prstGeom>
          <a:noFill/>
          <a:ln/>
        </p:spPr>
        <p:txBody>
          <a:bodyPr wrap="square" lIns="0" tIns="0" rIns="0" bIns="0" rtlCol="0" anchor="ctr"/>
          <a:lstStyle/>
          <a:p>
            <a:pPr indent="0" marL="0">
              <a:buNone/>
            </a:pPr>
            <a:r>
              <a:rPr lang="en-US" sz="1100" b="1" spc="300" kern="0" dirty="0">
                <a:solidFill>
                  <a:srgbClr val="1D4E89"/>
                </a:solidFill>
                <a:latin typeface="Calibri" pitchFamily="34" charset="0"/>
                <a:ea typeface="Calibri" pitchFamily="34" charset="-122"/>
                <a:cs typeface="Calibri" pitchFamily="34" charset="-120"/>
              </a:rPr>
              <a:t>CRITERIOS DE INCLUSIÓN</a:t>
            </a:r>
            <a:endParaRPr lang="en-US" sz="1100" dirty="0"/>
          </a:p>
        </p:txBody>
      </p:sp>
      <p:sp>
        <p:nvSpPr>
          <p:cNvPr id="5" name="Text 3"/>
          <p:cNvSpPr/>
          <p:nvPr/>
        </p:nvSpPr>
        <p:spPr>
          <a:xfrm>
            <a:off x="502920" y="1874520"/>
            <a:ext cx="411480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1A2E"/>
                </a:solidFill>
                <a:latin typeface="Georgia" pitchFamily="34" charset="0"/>
                <a:ea typeface="Georgia" pitchFamily="34" charset="-122"/>
                <a:cs typeface="Georgia" pitchFamily="34" charset="-120"/>
              </a:rPr>
              <a:t>Período.  Enero 2023 – marzo 2026.</a:t>
            </a:r>
            <a:endParaRPr lang="en-US" sz="1250" dirty="0"/>
          </a:p>
          <a:p>
            <a:pPr marL="342900" indent="-342900">
              <a:spcAft>
                <a:spcPts val="600"/>
              </a:spcAft>
              <a:buSzPct val="100000"/>
              <a:buChar char="■"/>
            </a:pPr>
            <a:r>
              <a:rPr lang="en-US" sz="1250" dirty="0">
                <a:solidFill>
                  <a:srgbClr val="1A1A2E"/>
                </a:solidFill>
                <a:latin typeface="Georgia" pitchFamily="34" charset="0"/>
                <a:ea typeface="Georgia" pitchFamily="34" charset="-122"/>
                <a:cs typeface="Georgia" pitchFamily="34" charset="-120"/>
              </a:rPr>
              <a:t>Pertinencia.  Emitida por líder, aparato o circulación política.</a:t>
            </a:r>
            <a:endParaRPr lang="en-US" sz="1250" dirty="0"/>
          </a:p>
          <a:p>
            <a:pPr marL="342900" indent="-342900">
              <a:spcAft>
                <a:spcPts val="600"/>
              </a:spcAft>
              <a:buSzPct val="100000"/>
              <a:buChar char="■"/>
            </a:pPr>
            <a:r>
              <a:rPr lang="en-US" sz="1250" dirty="0">
                <a:solidFill>
                  <a:srgbClr val="1A1A2E"/>
                </a:solidFill>
                <a:latin typeface="Georgia" pitchFamily="34" charset="0"/>
                <a:ea typeface="Georgia" pitchFamily="34" charset="-122"/>
                <a:cs typeface="Georgia" pitchFamily="34" charset="-120"/>
              </a:rPr>
              <a:t>Condición memética.  ≥ 3 de 5 rasgos formales de v1.</a:t>
            </a:r>
            <a:endParaRPr lang="en-US" sz="1250" dirty="0"/>
          </a:p>
          <a:p>
            <a:pPr marL="342900" indent="-342900">
              <a:spcAft>
                <a:spcPts val="600"/>
              </a:spcAft>
              <a:buSzPct val="100000"/>
              <a:buChar char="■"/>
            </a:pPr>
            <a:r>
              <a:rPr lang="en-US" sz="1250" dirty="0">
                <a:solidFill>
                  <a:srgbClr val="1A1A2E"/>
                </a:solidFill>
                <a:latin typeface="Georgia" pitchFamily="34" charset="0"/>
                <a:ea typeface="Georgia" pitchFamily="34" charset="-122"/>
                <a:cs typeface="Georgia" pitchFamily="34" charset="-120"/>
              </a:rPr>
              <a:t>Documentabilidad.  Rastro en ≥ 2 plataformas.</a:t>
            </a:r>
            <a:endParaRPr lang="en-US" sz="1250" dirty="0"/>
          </a:p>
        </p:txBody>
      </p:sp>
      <p:sp>
        <p:nvSpPr>
          <p:cNvPr id="6" name="Text 4"/>
          <p:cNvSpPr/>
          <p:nvPr/>
        </p:nvSpPr>
        <p:spPr>
          <a:xfrm>
            <a:off x="502920" y="3886200"/>
            <a:ext cx="4114800" cy="548640"/>
          </a:xfrm>
          <a:prstGeom prst="rect">
            <a:avLst/>
          </a:prstGeom>
          <a:noFill/>
          <a:ln/>
        </p:spPr>
        <p:txBody>
          <a:bodyPr wrap="square" lIns="0" tIns="0" rIns="0" bIns="0" rtlCol="0" anchor="ctr"/>
          <a:lstStyle/>
          <a:p>
            <a:pPr indent="0" marL="0">
              <a:lnSpc>
                <a:spcPts val="1800"/>
              </a:lnSpc>
              <a:buNone/>
            </a:pPr>
            <a:r>
              <a:rPr lang="en-US" sz="1150" i="1" dirty="0">
                <a:solidFill>
                  <a:srgbClr val="585870"/>
                </a:solidFill>
                <a:latin typeface="Georgia" pitchFamily="34" charset="0"/>
                <a:ea typeface="Georgia" pitchFamily="34" charset="-122"/>
                <a:cs typeface="Georgia" pitchFamily="34" charset="-120"/>
              </a:rPr>
              <a:t>Triple lectura · Dos codificadores independientes · Anexo de desacuerdos</a:t>
            </a:r>
            <a:endParaRPr lang="en-US" sz="1150" dirty="0"/>
          </a:p>
        </p:txBody>
      </p:sp>
      <p:sp>
        <p:nvSpPr>
          <p:cNvPr id="7" name="Text 5"/>
          <p:cNvSpPr/>
          <p:nvPr/>
        </p:nvSpPr>
        <p:spPr>
          <a:xfrm>
            <a:off x="5029200" y="1554480"/>
            <a:ext cx="3657600" cy="274320"/>
          </a:xfrm>
          <a:prstGeom prst="rect">
            <a:avLst/>
          </a:prstGeom>
          <a:noFill/>
          <a:ln/>
        </p:spPr>
        <p:txBody>
          <a:bodyPr wrap="square" lIns="0" tIns="0" rIns="0" bIns="0" rtlCol="0" anchor="ctr"/>
          <a:lstStyle/>
          <a:p>
            <a:pPr indent="0" marL="0">
              <a:buNone/>
            </a:pPr>
            <a:r>
              <a:rPr lang="en-US" sz="1100" b="1" spc="300" kern="0" dirty="0">
                <a:solidFill>
                  <a:srgbClr val="1D4E89"/>
                </a:solidFill>
                <a:latin typeface="Calibri" pitchFamily="34" charset="0"/>
                <a:ea typeface="Calibri" pitchFamily="34" charset="-122"/>
                <a:cs typeface="Calibri" pitchFamily="34" charset="-120"/>
              </a:rPr>
              <a:t>EJES EMPÍRICOS</a:t>
            </a:r>
            <a:endParaRPr lang="en-US" sz="1100" dirty="0"/>
          </a:p>
        </p:txBody>
      </p:sp>
      <p:sp>
        <p:nvSpPr>
          <p:cNvPr id="8" name="Shape 6"/>
          <p:cNvSpPr/>
          <p:nvPr/>
        </p:nvSpPr>
        <p:spPr>
          <a:xfrm>
            <a:off x="5029200" y="1874520"/>
            <a:ext cx="347472" cy="347472"/>
          </a:xfrm>
          <a:prstGeom prst="ellipse">
            <a:avLst/>
          </a:prstGeom>
          <a:solidFill>
            <a:srgbClr val="B5270F"/>
          </a:solidFill>
          <a:ln w="12700">
            <a:solidFill>
              <a:srgbClr val="B5270F"/>
            </a:solidFill>
            <a:prstDash val="solid"/>
          </a:ln>
        </p:spPr>
      </p:sp>
      <p:sp>
        <p:nvSpPr>
          <p:cNvPr id="9" name="Text 7"/>
          <p:cNvSpPr/>
          <p:nvPr/>
        </p:nvSpPr>
        <p:spPr>
          <a:xfrm>
            <a:off x="5029200" y="1874520"/>
            <a:ext cx="347472" cy="347472"/>
          </a:xfrm>
          <a:prstGeom prst="rect">
            <a:avLst/>
          </a:prstGeom>
          <a:noFill/>
          <a:ln/>
        </p:spPr>
        <p:txBody>
          <a:bodyPr wrap="square" lIns="0" tIns="0" rIns="0" bIns="0" rtlCol="0" anchor="ctr"/>
          <a:lstStyle/>
          <a:p>
            <a:pPr algn="ctr" indent="0" marL="0">
              <a:buNone/>
            </a:pPr>
            <a:r>
              <a:rPr lang="en-US" sz="1400" b="1" dirty="0">
                <a:solidFill>
                  <a:srgbClr val="FAF9F5"/>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5486400" y="1892808"/>
            <a:ext cx="3291840" cy="320040"/>
          </a:xfrm>
          <a:prstGeom prst="rect">
            <a:avLst/>
          </a:prstGeom>
          <a:noFill/>
          <a:ln/>
        </p:spPr>
        <p:txBody>
          <a:bodyPr wrap="square" lIns="0" tIns="0" rIns="0" bIns="0" rtlCol="0" anchor="ctr"/>
          <a:lstStyle/>
          <a:p>
            <a:pPr indent="0" marL="0">
              <a:buNone/>
            </a:pPr>
            <a:r>
              <a:rPr lang="en-US" sz="1400" dirty="0">
                <a:solidFill>
                  <a:srgbClr val="1A1A2E"/>
                </a:solidFill>
                <a:latin typeface="Georgia" pitchFamily="34" charset="0"/>
                <a:ea typeface="Georgia" pitchFamily="34" charset="-122"/>
                <a:cs typeface="Georgia" pitchFamily="34" charset="-120"/>
              </a:rPr>
              <a:t>Memetización de la guerra</a:t>
            </a:r>
            <a:endParaRPr lang="en-US" sz="1400" dirty="0"/>
          </a:p>
        </p:txBody>
      </p:sp>
      <p:sp>
        <p:nvSpPr>
          <p:cNvPr id="11" name="Shape 9"/>
          <p:cNvSpPr/>
          <p:nvPr/>
        </p:nvSpPr>
        <p:spPr>
          <a:xfrm>
            <a:off x="5029200" y="2331720"/>
            <a:ext cx="347472" cy="347472"/>
          </a:xfrm>
          <a:prstGeom prst="ellipse">
            <a:avLst/>
          </a:prstGeom>
          <a:solidFill>
            <a:srgbClr val="1D4E89"/>
          </a:solidFill>
          <a:ln w="12700">
            <a:solidFill>
              <a:srgbClr val="1D4E89"/>
            </a:solidFill>
            <a:prstDash val="solid"/>
          </a:ln>
        </p:spPr>
      </p:sp>
      <p:sp>
        <p:nvSpPr>
          <p:cNvPr id="12" name="Text 10"/>
          <p:cNvSpPr/>
          <p:nvPr/>
        </p:nvSpPr>
        <p:spPr>
          <a:xfrm>
            <a:off x="5029200" y="2331720"/>
            <a:ext cx="347472" cy="347472"/>
          </a:xfrm>
          <a:prstGeom prst="rect">
            <a:avLst/>
          </a:prstGeom>
          <a:noFill/>
          <a:ln/>
        </p:spPr>
        <p:txBody>
          <a:bodyPr wrap="square" lIns="0" tIns="0" rIns="0" bIns="0" rtlCol="0" anchor="ctr"/>
          <a:lstStyle/>
          <a:p>
            <a:pPr algn="ctr" indent="0" marL="0">
              <a:buNone/>
            </a:pPr>
            <a:r>
              <a:rPr lang="en-US" sz="1400" b="1" dirty="0">
                <a:solidFill>
                  <a:srgbClr val="FAF9F5"/>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486400" y="2350008"/>
            <a:ext cx="3291840" cy="320040"/>
          </a:xfrm>
          <a:prstGeom prst="rect">
            <a:avLst/>
          </a:prstGeom>
          <a:noFill/>
          <a:ln/>
        </p:spPr>
        <p:txBody>
          <a:bodyPr wrap="square" lIns="0" tIns="0" rIns="0" bIns="0" rtlCol="0" anchor="ctr"/>
          <a:lstStyle/>
          <a:p>
            <a:pPr indent="0" marL="0">
              <a:buNone/>
            </a:pPr>
            <a:r>
              <a:rPr lang="en-US" sz="1400" dirty="0">
                <a:solidFill>
                  <a:srgbClr val="1A1A2E"/>
                </a:solidFill>
                <a:latin typeface="Georgia" pitchFamily="34" charset="0"/>
                <a:ea typeface="Georgia" pitchFamily="34" charset="-122"/>
                <a:cs typeface="Georgia" pitchFamily="34" charset="-120"/>
              </a:rPr>
              <a:t>Liderazgo memético</a:t>
            </a:r>
            <a:endParaRPr lang="en-US" sz="1400" dirty="0"/>
          </a:p>
        </p:txBody>
      </p:sp>
      <p:sp>
        <p:nvSpPr>
          <p:cNvPr id="14" name="Shape 12"/>
          <p:cNvSpPr/>
          <p:nvPr/>
        </p:nvSpPr>
        <p:spPr>
          <a:xfrm>
            <a:off x="5029200" y="2788920"/>
            <a:ext cx="347472" cy="347472"/>
          </a:xfrm>
          <a:prstGeom prst="ellipse">
            <a:avLst/>
          </a:prstGeom>
          <a:solidFill>
            <a:srgbClr val="1A7A4A"/>
          </a:solidFill>
          <a:ln w="12700">
            <a:solidFill>
              <a:srgbClr val="1A7A4A"/>
            </a:solidFill>
            <a:prstDash val="solid"/>
          </a:ln>
        </p:spPr>
      </p:sp>
      <p:sp>
        <p:nvSpPr>
          <p:cNvPr id="15" name="Text 13"/>
          <p:cNvSpPr/>
          <p:nvPr/>
        </p:nvSpPr>
        <p:spPr>
          <a:xfrm>
            <a:off x="5029200" y="2788920"/>
            <a:ext cx="347472" cy="347472"/>
          </a:xfrm>
          <a:prstGeom prst="rect">
            <a:avLst/>
          </a:prstGeom>
          <a:noFill/>
          <a:ln/>
        </p:spPr>
        <p:txBody>
          <a:bodyPr wrap="square" lIns="0" tIns="0" rIns="0" bIns="0" rtlCol="0" anchor="ctr"/>
          <a:lstStyle/>
          <a:p>
            <a:pPr algn="ctr" indent="0" marL="0">
              <a:buNone/>
            </a:pPr>
            <a:r>
              <a:rPr lang="en-US" sz="1400" b="1" dirty="0">
                <a:solidFill>
                  <a:srgbClr val="FAF9F5"/>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5486400" y="2807208"/>
            <a:ext cx="3291840" cy="320040"/>
          </a:xfrm>
          <a:prstGeom prst="rect">
            <a:avLst/>
          </a:prstGeom>
          <a:noFill/>
          <a:ln/>
        </p:spPr>
        <p:txBody>
          <a:bodyPr wrap="square" lIns="0" tIns="0" rIns="0" bIns="0" rtlCol="0" anchor="ctr"/>
          <a:lstStyle/>
          <a:p>
            <a:pPr indent="0" marL="0">
              <a:buNone/>
            </a:pPr>
            <a:r>
              <a:rPr lang="en-US" sz="1400" dirty="0">
                <a:solidFill>
                  <a:srgbClr val="1A1A2E"/>
                </a:solidFill>
                <a:latin typeface="Georgia" pitchFamily="34" charset="0"/>
                <a:ea typeface="Georgia" pitchFamily="34" charset="-122"/>
                <a:cs typeface="Georgia" pitchFamily="34" charset="-120"/>
              </a:rPr>
              <a:t>IA como acelerador</a:t>
            </a:r>
            <a:endParaRPr lang="en-US" sz="1400" dirty="0"/>
          </a:p>
        </p:txBody>
      </p:sp>
      <p:sp>
        <p:nvSpPr>
          <p:cNvPr id="17" name="Shape 15"/>
          <p:cNvSpPr/>
          <p:nvPr/>
        </p:nvSpPr>
        <p:spPr>
          <a:xfrm>
            <a:off x="5029200" y="3429000"/>
            <a:ext cx="3657600" cy="914400"/>
          </a:xfrm>
          <a:prstGeom prst="rect">
            <a:avLst/>
          </a:prstGeom>
          <a:solidFill>
            <a:srgbClr val="F2F0E8"/>
          </a:solidFill>
          <a:ln w="9525">
            <a:solidFill>
              <a:srgbClr val="CDC9B8"/>
            </a:solidFill>
            <a:prstDash val="solid"/>
          </a:ln>
        </p:spPr>
      </p:sp>
      <p:sp>
        <p:nvSpPr>
          <p:cNvPr id="18" name="Text 16"/>
          <p:cNvSpPr/>
          <p:nvPr/>
        </p:nvSpPr>
        <p:spPr>
          <a:xfrm>
            <a:off x="5166360" y="3429000"/>
            <a:ext cx="1463040" cy="914400"/>
          </a:xfrm>
          <a:prstGeom prst="rect">
            <a:avLst/>
          </a:prstGeom>
          <a:noFill/>
          <a:ln/>
        </p:spPr>
        <p:txBody>
          <a:bodyPr wrap="square" lIns="0" tIns="0" rIns="0" bIns="0" rtlCol="0" anchor="ctr"/>
          <a:lstStyle/>
          <a:p>
            <a:pPr algn="ctr" indent="0" marL="0">
              <a:buNone/>
            </a:pPr>
            <a:r>
              <a:rPr lang="en-US" sz="5600" b="1" dirty="0">
                <a:solidFill>
                  <a:srgbClr val="B5270F"/>
                </a:solidFill>
                <a:latin typeface="Georgia" pitchFamily="34" charset="0"/>
                <a:ea typeface="Georgia" pitchFamily="34" charset="-122"/>
                <a:cs typeface="Georgia" pitchFamily="34" charset="-120"/>
              </a:rPr>
              <a:t>50</a:t>
            </a:r>
            <a:endParaRPr lang="en-US" sz="5600" dirty="0"/>
          </a:p>
        </p:txBody>
      </p:sp>
      <p:sp>
        <p:nvSpPr>
          <p:cNvPr id="19" name="Text 17"/>
          <p:cNvSpPr/>
          <p:nvPr/>
        </p:nvSpPr>
        <p:spPr>
          <a:xfrm>
            <a:off x="6675120" y="3429000"/>
            <a:ext cx="1965960" cy="914400"/>
          </a:xfrm>
          <a:prstGeom prst="rect">
            <a:avLst/>
          </a:prstGeom>
          <a:noFill/>
          <a:ln/>
        </p:spPr>
        <p:txBody>
          <a:bodyPr wrap="square" lIns="0" tIns="0" rIns="0" bIns="0" rtlCol="0" anchor="ctr"/>
          <a:lstStyle/>
          <a:p>
            <a:pPr indent="0" marL="0">
              <a:lnSpc>
                <a:spcPts val="1600"/>
              </a:lnSpc>
              <a:buNone/>
            </a:pPr>
            <a:r>
              <a:rPr lang="en-US" sz="1200" b="1" dirty="0">
                <a:solidFill>
                  <a:srgbClr val="1A1A2E"/>
                </a:solidFill>
                <a:latin typeface="Calibri" pitchFamily="34" charset="0"/>
                <a:ea typeface="Calibri" pitchFamily="34" charset="-122"/>
                <a:cs typeface="Calibri" pitchFamily="34" charset="-120"/>
              </a:rPr>
              <a:t>piezas documentadas</a:t>
            </a:r>
            <a:endParaRPr lang="en-US" sz="1200" dirty="0"/>
          </a:p>
          <a:p>
            <a:pPr indent="0" marL="0">
              <a:lnSpc>
                <a:spcPts val="1600"/>
              </a:lnSpc>
              <a:buNone/>
            </a:pPr>
            <a:r>
              <a:rPr lang="en-US" sz="1050" i="1" dirty="0">
                <a:solidFill>
                  <a:srgbClr val="585870"/>
                </a:solidFill>
                <a:latin typeface="Calibri" pitchFamily="34" charset="0"/>
                <a:ea typeface="Calibri" pitchFamily="34" charset="-122"/>
                <a:cs typeface="Calibri" pitchFamily="34" charset="-120"/>
              </a:rPr>
              <a:t>ampliable  ·  esquema fijo</a:t>
            </a:r>
            <a:endParaRPr lang="en-US" sz="1200" dirty="0"/>
          </a:p>
        </p:txBody>
      </p:sp>
      <p:sp>
        <p:nvSpPr>
          <p:cNvPr id="20" name="Text 18"/>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21" name="Text 19"/>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06  ·  Eje empírico 1</a:t>
            </a:r>
            <a:endParaRPr lang="en-US" sz="1000" dirty="0"/>
          </a:p>
        </p:txBody>
      </p:sp>
      <p:sp>
        <p:nvSpPr>
          <p:cNvPr id="3" name="Shape 1"/>
          <p:cNvSpPr/>
          <p:nvPr/>
        </p:nvSpPr>
        <p:spPr>
          <a:xfrm>
            <a:off x="502920" y="822960"/>
            <a:ext cx="64008" cy="1005840"/>
          </a:xfrm>
          <a:prstGeom prst="rect">
            <a:avLst/>
          </a:prstGeom>
          <a:solidFill>
            <a:srgbClr val="B5270F"/>
          </a:solidFill>
          <a:ln w="12700">
            <a:solidFill>
              <a:srgbClr val="B5270F"/>
            </a:solidFill>
            <a:prstDash val="solid"/>
          </a:ln>
        </p:spPr>
      </p:sp>
      <p:sp>
        <p:nvSpPr>
          <p:cNvPr id="4" name="Text 2"/>
          <p:cNvSpPr/>
          <p:nvPr/>
        </p:nvSpPr>
        <p:spPr>
          <a:xfrm>
            <a:off x="685800" y="822960"/>
            <a:ext cx="3657600" cy="274320"/>
          </a:xfrm>
          <a:prstGeom prst="rect">
            <a:avLst/>
          </a:prstGeom>
          <a:noFill/>
          <a:ln/>
        </p:spPr>
        <p:txBody>
          <a:bodyPr wrap="square" lIns="0" tIns="0" rIns="0" bIns="0" rtlCol="0" anchor="ctr"/>
          <a:lstStyle/>
          <a:p>
            <a:pPr indent="0" marL="0">
              <a:buNone/>
            </a:pPr>
            <a:r>
              <a:rPr lang="en-US" sz="1100" b="1" spc="300" kern="0" dirty="0">
                <a:solidFill>
                  <a:srgbClr val="B5270F"/>
                </a:solidFill>
                <a:latin typeface="Calibri" pitchFamily="34" charset="0"/>
                <a:ea typeface="Calibri" pitchFamily="34" charset="-122"/>
                <a:cs typeface="Calibri" pitchFamily="34" charset="-120"/>
              </a:rPr>
              <a:t>EJE 1  ·  GUERRA</a:t>
            </a:r>
            <a:endParaRPr lang="en-US" sz="1100" dirty="0"/>
          </a:p>
        </p:txBody>
      </p:sp>
      <p:sp>
        <p:nvSpPr>
          <p:cNvPr id="5" name="Text 3"/>
          <p:cNvSpPr/>
          <p:nvPr/>
        </p:nvSpPr>
        <p:spPr>
          <a:xfrm>
            <a:off x="685800" y="1097280"/>
            <a:ext cx="8229600" cy="548640"/>
          </a:xfrm>
          <a:prstGeom prst="rect">
            <a:avLst/>
          </a:prstGeom>
          <a:noFill/>
          <a:ln/>
        </p:spPr>
        <p:txBody>
          <a:bodyPr wrap="square" lIns="0" tIns="0" rIns="0" bIns="0" rtlCol="0" anchor="ctr"/>
          <a:lstStyle/>
          <a:p>
            <a:pPr indent="0" marL="0">
              <a:buNone/>
            </a:pPr>
            <a:r>
              <a:rPr lang="en-US" sz="3200" b="1" dirty="0">
                <a:solidFill>
                  <a:srgbClr val="1A1A2E"/>
                </a:solidFill>
                <a:latin typeface="Georgia" pitchFamily="34" charset="0"/>
                <a:ea typeface="Georgia" pitchFamily="34" charset="-122"/>
                <a:cs typeface="Georgia" pitchFamily="34" charset="-120"/>
              </a:rPr>
              <a:t>Memetización de la guerra</a:t>
            </a:r>
            <a:endParaRPr lang="en-US" sz="3200" dirty="0"/>
          </a:p>
        </p:txBody>
      </p:sp>
      <p:sp>
        <p:nvSpPr>
          <p:cNvPr id="6" name="Text 4"/>
          <p:cNvSpPr/>
          <p:nvPr/>
        </p:nvSpPr>
        <p:spPr>
          <a:xfrm>
            <a:off x="685800" y="1645920"/>
            <a:ext cx="8229600" cy="320040"/>
          </a:xfrm>
          <a:prstGeom prst="rect">
            <a:avLst/>
          </a:prstGeom>
          <a:noFill/>
          <a:ln/>
        </p:spPr>
        <p:txBody>
          <a:bodyPr wrap="square" lIns="0" tIns="0" rIns="0" bIns="0" rtlCol="0" anchor="ctr"/>
          <a:lstStyle/>
          <a:p>
            <a:pPr indent="0" marL="0">
              <a:buNone/>
            </a:pPr>
            <a:r>
              <a:rPr lang="en-US" sz="1500" i="1" dirty="0">
                <a:solidFill>
                  <a:srgbClr val="585870"/>
                </a:solidFill>
                <a:latin typeface="Georgia" pitchFamily="34" charset="0"/>
                <a:ea typeface="Georgia" pitchFamily="34" charset="-122"/>
                <a:cs typeface="Georgia" pitchFamily="34" charset="-120"/>
              </a:rPr>
              <a:t>Gaza 2023–2025  ·  Ucrania 2022–</a:t>
            </a:r>
            <a:endParaRPr lang="en-US" sz="1500" dirty="0"/>
          </a:p>
        </p:txBody>
      </p:sp>
      <p:sp>
        <p:nvSpPr>
          <p:cNvPr id="7" name="Text 5"/>
          <p:cNvSpPr/>
          <p:nvPr/>
        </p:nvSpPr>
        <p:spPr>
          <a:xfrm>
            <a:off x="502920" y="2240280"/>
            <a:ext cx="8229600" cy="274320"/>
          </a:xfrm>
          <a:prstGeom prst="rect">
            <a:avLst/>
          </a:prstGeom>
          <a:noFill/>
          <a:ln/>
        </p:spPr>
        <p:txBody>
          <a:bodyPr wrap="square" lIns="0" tIns="0" rIns="0" bIns="0" rtlCol="0" anchor="ctr"/>
          <a:lstStyle/>
          <a:p>
            <a:pPr indent="0" marL="0">
              <a:buNone/>
            </a:pPr>
            <a:r>
              <a:rPr lang="en-US" sz="1200" b="1" spc="200" kern="0" dirty="0">
                <a:solidFill>
                  <a:srgbClr val="1D4E89"/>
                </a:solidFill>
                <a:latin typeface="Calibri" pitchFamily="34" charset="0"/>
                <a:ea typeface="Calibri" pitchFamily="34" charset="-122"/>
                <a:cs typeface="Calibri" pitchFamily="34" charset="-120"/>
              </a:rPr>
              <a:t>Tres funciones simultáneas en una misma imagen</a:t>
            </a:r>
            <a:endParaRPr lang="en-US" sz="1200" dirty="0"/>
          </a:p>
        </p:txBody>
      </p:sp>
      <p:sp>
        <p:nvSpPr>
          <p:cNvPr id="8" name="Shape 6"/>
          <p:cNvSpPr/>
          <p:nvPr/>
        </p:nvSpPr>
        <p:spPr>
          <a:xfrm>
            <a:off x="502920" y="2606040"/>
            <a:ext cx="2606040" cy="1371600"/>
          </a:xfrm>
          <a:prstGeom prst="rect">
            <a:avLst/>
          </a:prstGeom>
          <a:solidFill>
            <a:srgbClr val="F2F0E8"/>
          </a:solidFill>
          <a:ln w="9525">
            <a:solidFill>
              <a:srgbClr val="CDC9B8"/>
            </a:solidFill>
            <a:prstDash val="solid"/>
          </a:ln>
        </p:spPr>
      </p:sp>
      <p:sp>
        <p:nvSpPr>
          <p:cNvPr id="9" name="Shape 7"/>
          <p:cNvSpPr/>
          <p:nvPr/>
        </p:nvSpPr>
        <p:spPr>
          <a:xfrm>
            <a:off x="502920" y="2606040"/>
            <a:ext cx="64008" cy="1371600"/>
          </a:xfrm>
          <a:prstGeom prst="rect">
            <a:avLst/>
          </a:prstGeom>
          <a:solidFill>
            <a:srgbClr val="B5270F"/>
          </a:solidFill>
          <a:ln w="12700">
            <a:solidFill>
              <a:srgbClr val="B5270F"/>
            </a:solidFill>
            <a:prstDash val="solid"/>
          </a:ln>
        </p:spPr>
      </p:sp>
      <p:sp>
        <p:nvSpPr>
          <p:cNvPr id="10" name="Text 8"/>
          <p:cNvSpPr/>
          <p:nvPr/>
        </p:nvSpPr>
        <p:spPr>
          <a:xfrm>
            <a:off x="685800" y="2679192"/>
            <a:ext cx="2377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Comentario político</a:t>
            </a:r>
            <a:endParaRPr lang="en-US" sz="1300" dirty="0"/>
          </a:p>
        </p:txBody>
      </p:sp>
      <p:sp>
        <p:nvSpPr>
          <p:cNvPr id="11" name="Text 9"/>
          <p:cNvSpPr/>
          <p:nvPr/>
        </p:nvSpPr>
        <p:spPr>
          <a:xfrm>
            <a:off x="685800" y="2990088"/>
            <a:ext cx="2377440" cy="914400"/>
          </a:xfrm>
          <a:prstGeom prst="rect">
            <a:avLst/>
          </a:prstGeom>
          <a:noFill/>
          <a:ln/>
        </p:spPr>
        <p:txBody>
          <a:bodyPr wrap="square" lIns="0" tIns="0" rIns="0" bIns="0" rtlCol="0" anchor="ctr"/>
          <a:lstStyle/>
          <a:p>
            <a:pPr indent="0" marL="0">
              <a:lnSpc>
                <a:spcPts val="1700"/>
              </a:lnSpc>
              <a:buNone/>
            </a:pPr>
            <a:r>
              <a:rPr lang="en-US" sz="1150" dirty="0">
                <a:solidFill>
                  <a:srgbClr val="585870"/>
                </a:solidFill>
                <a:latin typeface="Georgia" pitchFamily="34" charset="0"/>
                <a:ea typeface="Georgia" pitchFamily="34" charset="-122"/>
                <a:cs typeface="Georgia" pitchFamily="34" charset="-120"/>
              </a:rPr>
              <a:t>Posicionamiento identitario de la comunidad emisora.</a:t>
            </a:r>
            <a:endParaRPr lang="en-US" sz="1150" dirty="0"/>
          </a:p>
        </p:txBody>
      </p:sp>
      <p:sp>
        <p:nvSpPr>
          <p:cNvPr id="12" name="Shape 10"/>
          <p:cNvSpPr/>
          <p:nvPr/>
        </p:nvSpPr>
        <p:spPr>
          <a:xfrm>
            <a:off x="3291840" y="2606040"/>
            <a:ext cx="2606040" cy="1371600"/>
          </a:xfrm>
          <a:prstGeom prst="rect">
            <a:avLst/>
          </a:prstGeom>
          <a:solidFill>
            <a:srgbClr val="F2F0E8"/>
          </a:solidFill>
          <a:ln w="9525">
            <a:solidFill>
              <a:srgbClr val="CDC9B8"/>
            </a:solidFill>
            <a:prstDash val="solid"/>
          </a:ln>
        </p:spPr>
      </p:sp>
      <p:sp>
        <p:nvSpPr>
          <p:cNvPr id="13" name="Shape 11"/>
          <p:cNvSpPr/>
          <p:nvPr/>
        </p:nvSpPr>
        <p:spPr>
          <a:xfrm>
            <a:off x="3291840" y="2606040"/>
            <a:ext cx="64008" cy="1371600"/>
          </a:xfrm>
          <a:prstGeom prst="rect">
            <a:avLst/>
          </a:prstGeom>
          <a:solidFill>
            <a:srgbClr val="B5270F"/>
          </a:solidFill>
          <a:ln w="12700">
            <a:solidFill>
              <a:srgbClr val="B5270F"/>
            </a:solidFill>
            <a:prstDash val="solid"/>
          </a:ln>
        </p:spPr>
      </p:sp>
      <p:sp>
        <p:nvSpPr>
          <p:cNvPr id="14" name="Text 12"/>
          <p:cNvSpPr/>
          <p:nvPr/>
        </p:nvSpPr>
        <p:spPr>
          <a:xfrm>
            <a:off x="3474720" y="2679192"/>
            <a:ext cx="2377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Documentación</a:t>
            </a:r>
            <a:endParaRPr lang="en-US" sz="1300" dirty="0"/>
          </a:p>
        </p:txBody>
      </p:sp>
      <p:sp>
        <p:nvSpPr>
          <p:cNvPr id="15" name="Text 13"/>
          <p:cNvSpPr/>
          <p:nvPr/>
        </p:nvSpPr>
        <p:spPr>
          <a:xfrm>
            <a:off x="3474720" y="2990088"/>
            <a:ext cx="2377440" cy="914400"/>
          </a:xfrm>
          <a:prstGeom prst="rect">
            <a:avLst/>
          </a:prstGeom>
          <a:noFill/>
          <a:ln/>
        </p:spPr>
        <p:txBody>
          <a:bodyPr wrap="square" lIns="0" tIns="0" rIns="0" bIns="0" rtlCol="0" anchor="ctr"/>
          <a:lstStyle/>
          <a:p>
            <a:pPr indent="0" marL="0">
              <a:lnSpc>
                <a:spcPts val="1700"/>
              </a:lnSpc>
              <a:buNone/>
            </a:pPr>
            <a:r>
              <a:rPr lang="en-US" sz="1150" dirty="0">
                <a:solidFill>
                  <a:srgbClr val="585870"/>
                </a:solidFill>
                <a:latin typeface="Georgia" pitchFamily="34" charset="0"/>
                <a:ea typeface="Georgia" pitchFamily="34" charset="-122"/>
                <a:cs typeface="Georgia" pitchFamily="34" charset="-120"/>
              </a:rPr>
              <a:t>Imagen del hecho —con valor probatorio contestado.</a:t>
            </a:r>
            <a:endParaRPr lang="en-US" sz="1150" dirty="0"/>
          </a:p>
        </p:txBody>
      </p:sp>
      <p:sp>
        <p:nvSpPr>
          <p:cNvPr id="16" name="Shape 14"/>
          <p:cNvSpPr/>
          <p:nvPr/>
        </p:nvSpPr>
        <p:spPr>
          <a:xfrm>
            <a:off x="6080760" y="2606040"/>
            <a:ext cx="2606040" cy="1371600"/>
          </a:xfrm>
          <a:prstGeom prst="rect">
            <a:avLst/>
          </a:prstGeom>
          <a:solidFill>
            <a:srgbClr val="F2F0E8"/>
          </a:solidFill>
          <a:ln w="9525">
            <a:solidFill>
              <a:srgbClr val="CDC9B8"/>
            </a:solidFill>
            <a:prstDash val="solid"/>
          </a:ln>
        </p:spPr>
      </p:sp>
      <p:sp>
        <p:nvSpPr>
          <p:cNvPr id="17" name="Shape 15"/>
          <p:cNvSpPr/>
          <p:nvPr/>
        </p:nvSpPr>
        <p:spPr>
          <a:xfrm>
            <a:off x="6080760" y="2606040"/>
            <a:ext cx="64008" cy="1371600"/>
          </a:xfrm>
          <a:prstGeom prst="rect">
            <a:avLst/>
          </a:prstGeom>
          <a:solidFill>
            <a:srgbClr val="B5270F"/>
          </a:solidFill>
          <a:ln w="12700">
            <a:solidFill>
              <a:srgbClr val="B5270F"/>
            </a:solidFill>
            <a:prstDash val="solid"/>
          </a:ln>
        </p:spPr>
      </p:sp>
      <p:sp>
        <p:nvSpPr>
          <p:cNvPr id="18" name="Text 16"/>
          <p:cNvSpPr/>
          <p:nvPr/>
        </p:nvSpPr>
        <p:spPr>
          <a:xfrm>
            <a:off x="6263640" y="2679192"/>
            <a:ext cx="2377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Propaganda</a:t>
            </a:r>
            <a:endParaRPr lang="en-US" sz="1300" dirty="0"/>
          </a:p>
        </p:txBody>
      </p:sp>
      <p:sp>
        <p:nvSpPr>
          <p:cNvPr id="19" name="Text 17"/>
          <p:cNvSpPr/>
          <p:nvPr/>
        </p:nvSpPr>
        <p:spPr>
          <a:xfrm>
            <a:off x="6263640" y="2990088"/>
            <a:ext cx="2377440" cy="914400"/>
          </a:xfrm>
          <a:prstGeom prst="rect">
            <a:avLst/>
          </a:prstGeom>
          <a:noFill/>
          <a:ln/>
        </p:spPr>
        <p:txBody>
          <a:bodyPr wrap="square" lIns="0" tIns="0" rIns="0" bIns="0" rtlCol="0" anchor="ctr"/>
          <a:lstStyle/>
          <a:p>
            <a:pPr indent="0" marL="0">
              <a:lnSpc>
                <a:spcPts val="1700"/>
              </a:lnSpc>
              <a:buNone/>
            </a:pPr>
            <a:r>
              <a:rPr lang="en-US" sz="1150" dirty="0">
                <a:solidFill>
                  <a:srgbClr val="585870"/>
                </a:solidFill>
                <a:latin typeface="Georgia" pitchFamily="34" charset="0"/>
                <a:ea typeface="Georgia" pitchFamily="34" charset="-122"/>
                <a:cs typeface="Georgia" pitchFamily="34" charset="-120"/>
              </a:rPr>
              <a:t>Orientación del afecto hacia un bando determinado.</a:t>
            </a:r>
            <a:endParaRPr lang="en-US" sz="1150" dirty="0"/>
          </a:p>
        </p:txBody>
      </p:sp>
      <p:sp>
        <p:nvSpPr>
          <p:cNvPr id="20" name="Text 18"/>
          <p:cNvSpPr/>
          <p:nvPr/>
        </p:nvSpPr>
        <p:spPr>
          <a:xfrm>
            <a:off x="502920" y="4160520"/>
            <a:ext cx="8229600" cy="502920"/>
          </a:xfrm>
          <a:prstGeom prst="rect">
            <a:avLst/>
          </a:prstGeom>
          <a:noFill/>
          <a:ln/>
        </p:spPr>
        <p:txBody>
          <a:bodyPr wrap="square" lIns="0" tIns="0" rIns="0" bIns="0" rtlCol="0" anchor="ctr"/>
          <a:lstStyle/>
          <a:p>
            <a:pPr indent="0" marL="0">
              <a:lnSpc>
                <a:spcPts val="1800"/>
              </a:lnSpc>
              <a:buNone/>
            </a:pPr>
            <a:r>
              <a:rPr lang="en-US" sz="1200" i="1" dirty="0">
                <a:solidFill>
                  <a:srgbClr val="585870"/>
                </a:solidFill>
                <a:latin typeface="Georgia" pitchFamily="34" charset="0"/>
                <a:ea typeface="Georgia" pitchFamily="34" charset="-122"/>
                <a:cs typeface="Georgia" pitchFamily="34" charset="-120"/>
              </a:rPr>
              <a:t>La pieza, idéntica en su significante, se decodifica de modos incompatibles por comunidades distintas; esa incompatibilidad no es un defecto del dispositivo sino su función (Hall, 1980).</a:t>
            </a:r>
            <a:endParaRPr lang="en-US" sz="1200" dirty="0"/>
          </a:p>
        </p:txBody>
      </p:sp>
      <p:sp>
        <p:nvSpPr>
          <p:cNvPr id="21" name="Text 19"/>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22" name="Text 20"/>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07  ·  Eje empírico 2  ·  Caso de estudio</a:t>
            </a:r>
            <a:endParaRPr lang="en-US" sz="1000" dirty="0"/>
          </a:p>
        </p:txBody>
      </p:sp>
      <p:sp>
        <p:nvSpPr>
          <p:cNvPr id="3" name="Shape 1"/>
          <p:cNvSpPr/>
          <p:nvPr/>
        </p:nvSpPr>
        <p:spPr>
          <a:xfrm>
            <a:off x="502920" y="822960"/>
            <a:ext cx="64008" cy="1005840"/>
          </a:xfrm>
          <a:prstGeom prst="rect">
            <a:avLst/>
          </a:prstGeom>
          <a:solidFill>
            <a:srgbClr val="1D4E89"/>
          </a:solidFill>
          <a:ln w="12700">
            <a:solidFill>
              <a:srgbClr val="1D4E89"/>
            </a:solidFill>
            <a:prstDash val="solid"/>
          </a:ln>
        </p:spPr>
      </p:sp>
      <p:sp>
        <p:nvSpPr>
          <p:cNvPr id="4" name="Text 2"/>
          <p:cNvSpPr/>
          <p:nvPr/>
        </p:nvSpPr>
        <p:spPr>
          <a:xfrm>
            <a:off x="685800" y="822960"/>
            <a:ext cx="3657600" cy="274320"/>
          </a:xfrm>
          <a:prstGeom prst="rect">
            <a:avLst/>
          </a:prstGeom>
          <a:noFill/>
          <a:ln/>
        </p:spPr>
        <p:txBody>
          <a:bodyPr wrap="square" lIns="0" tIns="0" rIns="0" bIns="0" rtlCol="0" anchor="ctr"/>
          <a:lstStyle/>
          <a:p>
            <a:pPr indent="0" marL="0">
              <a:buNone/>
            </a:pPr>
            <a:r>
              <a:rPr lang="en-US" sz="1100" b="1" spc="300" kern="0" dirty="0">
                <a:solidFill>
                  <a:srgbClr val="1D4E89"/>
                </a:solidFill>
                <a:latin typeface="Calibri" pitchFamily="34" charset="0"/>
                <a:ea typeface="Calibri" pitchFamily="34" charset="-122"/>
                <a:cs typeface="Calibri" pitchFamily="34" charset="-120"/>
              </a:rPr>
              <a:t>EJE 2  ·  LIDERAZGO</a:t>
            </a:r>
            <a:endParaRPr lang="en-US" sz="1100" dirty="0"/>
          </a:p>
        </p:txBody>
      </p:sp>
      <p:sp>
        <p:nvSpPr>
          <p:cNvPr id="5" name="Text 3"/>
          <p:cNvSpPr/>
          <p:nvPr/>
        </p:nvSpPr>
        <p:spPr>
          <a:xfrm>
            <a:off x="685800" y="1097280"/>
            <a:ext cx="8229600" cy="54864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Liderazgo memético: el caso Trump-Irán</a:t>
            </a:r>
            <a:endParaRPr lang="en-US" sz="2800" dirty="0"/>
          </a:p>
        </p:txBody>
      </p:sp>
      <p:sp>
        <p:nvSpPr>
          <p:cNvPr id="6" name="Text 4"/>
          <p:cNvSpPr/>
          <p:nvPr/>
        </p:nvSpPr>
        <p:spPr>
          <a:xfrm>
            <a:off x="685800" y="1645920"/>
            <a:ext cx="8229600" cy="320040"/>
          </a:xfrm>
          <a:prstGeom prst="rect">
            <a:avLst/>
          </a:prstGeom>
          <a:noFill/>
          <a:ln/>
        </p:spPr>
        <p:txBody>
          <a:bodyPr wrap="square" lIns="0" tIns="0" rIns="0" bIns="0" rtlCol="0" anchor="ctr"/>
          <a:lstStyle/>
          <a:p>
            <a:pPr indent="0" marL="0">
              <a:buNone/>
            </a:pPr>
            <a:r>
              <a:rPr lang="en-US" sz="1500" i="1" dirty="0">
                <a:solidFill>
                  <a:srgbClr val="585870"/>
                </a:solidFill>
                <a:latin typeface="Georgia" pitchFamily="34" charset="0"/>
                <a:ea typeface="Georgia" pitchFamily="34" charset="-122"/>
                <a:cs typeface="Georgia" pitchFamily="34" charset="-120"/>
              </a:rPr>
              <a:t>Junio de 2025  ·  fact-checking distribuido</a:t>
            </a:r>
            <a:endParaRPr lang="en-US" sz="1500" dirty="0"/>
          </a:p>
        </p:txBody>
      </p:sp>
      <p:sp>
        <p:nvSpPr>
          <p:cNvPr id="7" name="Shape 5"/>
          <p:cNvSpPr/>
          <p:nvPr/>
        </p:nvSpPr>
        <p:spPr>
          <a:xfrm>
            <a:off x="1554480" y="2788920"/>
            <a:ext cx="6035040" cy="0"/>
          </a:xfrm>
          <a:prstGeom prst="line">
            <a:avLst/>
          </a:prstGeom>
          <a:noFill/>
          <a:ln w="19050">
            <a:solidFill>
              <a:srgbClr val="CDC9B8"/>
            </a:solidFill>
            <a:prstDash val="dash"/>
          </a:ln>
        </p:spPr>
      </p:sp>
      <p:sp>
        <p:nvSpPr>
          <p:cNvPr id="8" name="Shape 6"/>
          <p:cNvSpPr/>
          <p:nvPr/>
        </p:nvSpPr>
        <p:spPr>
          <a:xfrm>
            <a:off x="1380744" y="2615184"/>
            <a:ext cx="347472" cy="347472"/>
          </a:xfrm>
          <a:prstGeom prst="ellipse">
            <a:avLst/>
          </a:prstGeom>
          <a:solidFill>
            <a:srgbClr val="1D4E89"/>
          </a:solidFill>
          <a:ln w="12700">
            <a:solidFill>
              <a:srgbClr val="1D4E89"/>
            </a:solidFill>
            <a:prstDash val="solid"/>
          </a:ln>
        </p:spPr>
      </p:sp>
      <p:sp>
        <p:nvSpPr>
          <p:cNvPr id="9" name="Text 7"/>
          <p:cNvSpPr/>
          <p:nvPr/>
        </p:nvSpPr>
        <p:spPr>
          <a:xfrm>
            <a:off x="1380744" y="2615184"/>
            <a:ext cx="347472" cy="347472"/>
          </a:xfrm>
          <a:prstGeom prst="rect">
            <a:avLst/>
          </a:prstGeom>
          <a:no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t₀</a:t>
            </a:r>
            <a:endParaRPr lang="en-US" sz="1100" dirty="0"/>
          </a:p>
        </p:txBody>
      </p:sp>
      <p:sp>
        <p:nvSpPr>
          <p:cNvPr id="10" name="Text 8"/>
          <p:cNvSpPr/>
          <p:nvPr/>
        </p:nvSpPr>
        <p:spPr>
          <a:xfrm>
            <a:off x="274320" y="3081528"/>
            <a:ext cx="256032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Publicación</a:t>
            </a:r>
            <a:endParaRPr lang="en-US" sz="1200" dirty="0"/>
          </a:p>
        </p:txBody>
      </p:sp>
      <p:sp>
        <p:nvSpPr>
          <p:cNvPr id="11" name="Text 9"/>
          <p:cNvSpPr/>
          <p:nvPr/>
        </p:nvSpPr>
        <p:spPr>
          <a:xfrm>
            <a:off x="274320" y="3374136"/>
            <a:ext cx="2560320" cy="685800"/>
          </a:xfrm>
          <a:prstGeom prst="rect">
            <a:avLst/>
          </a:prstGeom>
          <a:noFill/>
          <a:ln/>
        </p:spPr>
        <p:txBody>
          <a:bodyPr wrap="square" lIns="0" tIns="0" rIns="0" bIns="0" rtlCol="0" anchor="ctr"/>
          <a:lstStyle/>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Registro memético;</a:t>
            </a:r>
            <a:endParaRPr lang="en-US" sz="1050" dirty="0"/>
          </a:p>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redistribución viral.</a:t>
            </a:r>
            <a:endParaRPr lang="en-US" sz="1050" dirty="0"/>
          </a:p>
        </p:txBody>
      </p:sp>
      <p:sp>
        <p:nvSpPr>
          <p:cNvPr id="12" name="Shape 10"/>
          <p:cNvSpPr/>
          <p:nvPr/>
        </p:nvSpPr>
        <p:spPr>
          <a:xfrm>
            <a:off x="4398264" y="2615184"/>
            <a:ext cx="347472" cy="347472"/>
          </a:xfrm>
          <a:prstGeom prst="ellipse">
            <a:avLst/>
          </a:prstGeom>
          <a:solidFill>
            <a:srgbClr val="1D4E89"/>
          </a:solidFill>
          <a:ln w="12700">
            <a:solidFill>
              <a:srgbClr val="1D4E89"/>
            </a:solidFill>
            <a:prstDash val="solid"/>
          </a:ln>
        </p:spPr>
      </p:sp>
      <p:sp>
        <p:nvSpPr>
          <p:cNvPr id="13" name="Text 11"/>
          <p:cNvSpPr/>
          <p:nvPr/>
        </p:nvSpPr>
        <p:spPr>
          <a:xfrm>
            <a:off x="4398264" y="2615184"/>
            <a:ext cx="347472" cy="347472"/>
          </a:xfrm>
          <a:prstGeom prst="rect">
            <a:avLst/>
          </a:prstGeom>
          <a:no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t₁</a:t>
            </a:r>
            <a:endParaRPr lang="en-US" sz="1100" dirty="0"/>
          </a:p>
        </p:txBody>
      </p:sp>
      <p:sp>
        <p:nvSpPr>
          <p:cNvPr id="14" name="Text 12"/>
          <p:cNvSpPr/>
          <p:nvPr/>
        </p:nvSpPr>
        <p:spPr>
          <a:xfrm>
            <a:off x="3291840" y="3081528"/>
            <a:ext cx="256032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Respuesta prensa</a:t>
            </a:r>
            <a:endParaRPr lang="en-US" sz="1200" dirty="0"/>
          </a:p>
        </p:txBody>
      </p:sp>
      <p:sp>
        <p:nvSpPr>
          <p:cNvPr id="15" name="Text 13"/>
          <p:cNvSpPr/>
          <p:nvPr/>
        </p:nvSpPr>
        <p:spPr>
          <a:xfrm>
            <a:off x="3291840" y="3374136"/>
            <a:ext cx="2560320" cy="685800"/>
          </a:xfrm>
          <a:prstGeom prst="rect">
            <a:avLst/>
          </a:prstGeom>
          <a:noFill/>
          <a:ln/>
        </p:spPr>
        <p:txBody>
          <a:bodyPr wrap="square" lIns="0" tIns="0" rIns="0" bIns="0" rtlCol="0" anchor="ctr"/>
          <a:lstStyle/>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Verificación y</a:t>
            </a:r>
            <a:endParaRPr lang="en-US" sz="1050" dirty="0"/>
          </a:p>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contextualización; llega tarde.</a:t>
            </a:r>
            <a:endParaRPr lang="en-US" sz="1050" dirty="0"/>
          </a:p>
        </p:txBody>
      </p:sp>
      <p:sp>
        <p:nvSpPr>
          <p:cNvPr id="16" name="Shape 14"/>
          <p:cNvSpPr/>
          <p:nvPr/>
        </p:nvSpPr>
        <p:spPr>
          <a:xfrm>
            <a:off x="7415784" y="2615184"/>
            <a:ext cx="347472" cy="347472"/>
          </a:xfrm>
          <a:prstGeom prst="ellipse">
            <a:avLst/>
          </a:prstGeom>
          <a:solidFill>
            <a:srgbClr val="B5270F"/>
          </a:solidFill>
          <a:ln w="12700">
            <a:solidFill>
              <a:srgbClr val="B5270F"/>
            </a:solidFill>
            <a:prstDash val="solid"/>
          </a:ln>
        </p:spPr>
      </p:sp>
      <p:sp>
        <p:nvSpPr>
          <p:cNvPr id="17" name="Text 15"/>
          <p:cNvSpPr/>
          <p:nvPr/>
        </p:nvSpPr>
        <p:spPr>
          <a:xfrm>
            <a:off x="7415784" y="2615184"/>
            <a:ext cx="347472" cy="347472"/>
          </a:xfrm>
          <a:prstGeom prst="rect">
            <a:avLst/>
          </a:prstGeom>
          <a:noFill/>
          <a:ln/>
        </p:spPr>
        <p:txBody>
          <a:bodyPr wrap="square" lIns="0" tIns="0" rIns="0" bIns="0" rtlCol="0" anchor="ctr"/>
          <a:lstStyle/>
          <a:p>
            <a:pPr algn="ctr" indent="0" marL="0">
              <a:buNone/>
            </a:pPr>
            <a:r>
              <a:rPr lang="en-US" sz="1100" b="1" dirty="0">
                <a:solidFill>
                  <a:srgbClr val="FAF9F5"/>
                </a:solidFill>
                <a:latin typeface="Calibri" pitchFamily="34" charset="0"/>
                <a:ea typeface="Calibri" pitchFamily="34" charset="-122"/>
                <a:cs typeface="Calibri" pitchFamily="34" charset="-120"/>
              </a:rPr>
              <a:t>t₂</a:t>
            </a:r>
            <a:endParaRPr lang="en-US" sz="1100" dirty="0"/>
          </a:p>
        </p:txBody>
      </p:sp>
      <p:sp>
        <p:nvSpPr>
          <p:cNvPr id="18" name="Text 16"/>
          <p:cNvSpPr/>
          <p:nvPr/>
        </p:nvSpPr>
        <p:spPr>
          <a:xfrm>
            <a:off x="6309360" y="3081528"/>
            <a:ext cx="256032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Saldo epistémico</a:t>
            </a:r>
            <a:endParaRPr lang="en-US" sz="1200" dirty="0"/>
          </a:p>
        </p:txBody>
      </p:sp>
      <p:sp>
        <p:nvSpPr>
          <p:cNvPr id="19" name="Text 17"/>
          <p:cNvSpPr/>
          <p:nvPr/>
        </p:nvSpPr>
        <p:spPr>
          <a:xfrm>
            <a:off x="6309360" y="3374136"/>
            <a:ext cx="2560320" cy="685800"/>
          </a:xfrm>
          <a:prstGeom prst="rect">
            <a:avLst/>
          </a:prstGeom>
          <a:noFill/>
          <a:ln/>
        </p:spPr>
        <p:txBody>
          <a:bodyPr wrap="square" lIns="0" tIns="0" rIns="0" bIns="0" rtlCol="0" anchor="ctr"/>
          <a:lstStyle/>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Original = hecho.</a:t>
            </a:r>
            <a:endParaRPr lang="en-US" sz="1050" dirty="0"/>
          </a:p>
          <a:p>
            <a:pPr algn="ctr" indent="0" marL="0">
              <a:lnSpc>
                <a:spcPts val="1400"/>
              </a:lnSpc>
              <a:buNone/>
            </a:pPr>
            <a:r>
              <a:rPr lang="en-US" sz="1050" dirty="0">
                <a:solidFill>
                  <a:srgbClr val="585870"/>
                </a:solidFill>
                <a:latin typeface="Georgia" pitchFamily="34" charset="0"/>
                <a:ea typeface="Georgia" pitchFamily="34" charset="-122"/>
                <a:cs typeface="Georgia" pitchFamily="34" charset="-120"/>
              </a:rPr>
              <a:t>Respuesta = comentario.</a:t>
            </a:r>
            <a:endParaRPr lang="en-US" sz="1050" dirty="0"/>
          </a:p>
        </p:txBody>
      </p:sp>
      <p:sp>
        <p:nvSpPr>
          <p:cNvPr id="20" name="Shape 18"/>
          <p:cNvSpPr/>
          <p:nvPr/>
        </p:nvSpPr>
        <p:spPr>
          <a:xfrm>
            <a:off x="502920" y="4206240"/>
            <a:ext cx="8229600" cy="502920"/>
          </a:xfrm>
          <a:prstGeom prst="rect">
            <a:avLst/>
          </a:prstGeom>
          <a:solidFill>
            <a:srgbClr val="1A1A2E"/>
          </a:solidFill>
          <a:ln w="12700">
            <a:solidFill>
              <a:srgbClr val="1A1A2E"/>
            </a:solidFill>
            <a:prstDash val="solid"/>
          </a:ln>
        </p:spPr>
      </p:sp>
      <p:sp>
        <p:nvSpPr>
          <p:cNvPr id="21" name="Text 19"/>
          <p:cNvSpPr/>
          <p:nvPr/>
        </p:nvSpPr>
        <p:spPr>
          <a:xfrm>
            <a:off x="685800" y="4206240"/>
            <a:ext cx="7863840" cy="502920"/>
          </a:xfrm>
          <a:prstGeom prst="rect">
            <a:avLst/>
          </a:prstGeom>
          <a:noFill/>
          <a:ln/>
        </p:spPr>
        <p:txBody>
          <a:bodyPr wrap="square" lIns="0" tIns="0" rIns="0" bIns="0" rtlCol="0" anchor="ctr"/>
          <a:lstStyle/>
          <a:p>
            <a:pPr indent="0" marL="0">
              <a:buNone/>
            </a:pPr>
            <a:r>
              <a:rPr lang="en-US" sz="1250" i="1" dirty="0">
                <a:solidFill>
                  <a:srgbClr val="FAF9F5"/>
                </a:solidFill>
                <a:latin typeface="Georgia" pitchFamily="34" charset="0"/>
                <a:ea typeface="Georgia" pitchFamily="34" charset="-122"/>
                <a:cs typeface="Georgia" pitchFamily="34" charset="-120"/>
              </a:rPr>
              <a:t>El problema es estructural: la verificación honesta es incompatible con la ventana temporal de redistribución viral.</a:t>
            </a:r>
            <a:endParaRPr lang="en-US" sz="1250" dirty="0"/>
          </a:p>
        </p:txBody>
      </p:sp>
      <p:sp>
        <p:nvSpPr>
          <p:cNvPr id="22" name="Text 20"/>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23" name="Text 21"/>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08  ·  Eje empírico 3</a:t>
            </a:r>
            <a:endParaRPr lang="en-US" sz="1000" dirty="0"/>
          </a:p>
        </p:txBody>
      </p:sp>
      <p:sp>
        <p:nvSpPr>
          <p:cNvPr id="3" name="Shape 1"/>
          <p:cNvSpPr/>
          <p:nvPr/>
        </p:nvSpPr>
        <p:spPr>
          <a:xfrm>
            <a:off x="502920" y="822960"/>
            <a:ext cx="64008" cy="1005840"/>
          </a:xfrm>
          <a:prstGeom prst="rect">
            <a:avLst/>
          </a:prstGeom>
          <a:solidFill>
            <a:srgbClr val="1A7A4A"/>
          </a:solidFill>
          <a:ln w="12700">
            <a:solidFill>
              <a:srgbClr val="1A7A4A"/>
            </a:solidFill>
            <a:prstDash val="solid"/>
          </a:ln>
        </p:spPr>
      </p:sp>
      <p:sp>
        <p:nvSpPr>
          <p:cNvPr id="4" name="Text 2"/>
          <p:cNvSpPr/>
          <p:nvPr/>
        </p:nvSpPr>
        <p:spPr>
          <a:xfrm>
            <a:off x="685800" y="822960"/>
            <a:ext cx="3657600" cy="274320"/>
          </a:xfrm>
          <a:prstGeom prst="rect">
            <a:avLst/>
          </a:prstGeom>
          <a:noFill/>
          <a:ln/>
        </p:spPr>
        <p:txBody>
          <a:bodyPr wrap="square" lIns="0" tIns="0" rIns="0" bIns="0" rtlCol="0" anchor="ctr"/>
          <a:lstStyle/>
          <a:p>
            <a:pPr indent="0" marL="0">
              <a:buNone/>
            </a:pPr>
            <a:r>
              <a:rPr lang="en-US" sz="1100" b="1" spc="300" kern="0" dirty="0">
                <a:solidFill>
                  <a:srgbClr val="1A7A4A"/>
                </a:solidFill>
                <a:latin typeface="Calibri" pitchFamily="34" charset="0"/>
                <a:ea typeface="Calibri" pitchFamily="34" charset="-122"/>
                <a:cs typeface="Calibri" pitchFamily="34" charset="-120"/>
              </a:rPr>
              <a:t>EJE 3  ·  IA MEMÉTICA</a:t>
            </a:r>
            <a:endParaRPr lang="en-US" sz="1100" dirty="0"/>
          </a:p>
        </p:txBody>
      </p:sp>
      <p:sp>
        <p:nvSpPr>
          <p:cNvPr id="5" name="Text 3"/>
          <p:cNvSpPr/>
          <p:nvPr/>
        </p:nvSpPr>
        <p:spPr>
          <a:xfrm>
            <a:off x="685800" y="1097280"/>
            <a:ext cx="8229600" cy="548640"/>
          </a:xfrm>
          <a:prstGeom prst="rect">
            <a:avLst/>
          </a:prstGeom>
          <a:noFill/>
          <a:ln/>
        </p:spPr>
        <p:txBody>
          <a:bodyPr wrap="square" lIns="0" tIns="0" rIns="0" bIns="0"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IA como acelerador memético</a:t>
            </a:r>
            <a:endParaRPr lang="en-US" sz="3000" dirty="0"/>
          </a:p>
        </p:txBody>
      </p:sp>
      <p:sp>
        <p:nvSpPr>
          <p:cNvPr id="6" name="Text 4"/>
          <p:cNvSpPr/>
          <p:nvPr/>
        </p:nvSpPr>
        <p:spPr>
          <a:xfrm>
            <a:off x="685800" y="1645920"/>
            <a:ext cx="8229600" cy="320040"/>
          </a:xfrm>
          <a:prstGeom prst="rect">
            <a:avLst/>
          </a:prstGeom>
          <a:noFill/>
          <a:ln/>
        </p:spPr>
        <p:txBody>
          <a:bodyPr wrap="square" lIns="0" tIns="0" rIns="0" bIns="0" rtlCol="0" anchor="ctr"/>
          <a:lstStyle/>
          <a:p>
            <a:pPr indent="0" marL="0">
              <a:buNone/>
            </a:pPr>
            <a:r>
              <a:rPr lang="en-US" sz="1500" i="1" dirty="0">
                <a:solidFill>
                  <a:srgbClr val="585870"/>
                </a:solidFill>
                <a:latin typeface="Georgia" pitchFamily="34" charset="0"/>
                <a:ea typeface="Georgia" pitchFamily="34" charset="-122"/>
                <a:cs typeface="Georgia" pitchFamily="34" charset="-120"/>
              </a:rPr>
              <a:t>Memes no sobre la IA, sino producidos por la IA</a:t>
            </a:r>
            <a:endParaRPr lang="en-US" sz="1500" dirty="0"/>
          </a:p>
        </p:txBody>
      </p:sp>
      <p:sp>
        <p:nvSpPr>
          <p:cNvPr id="7" name="Shape 5"/>
          <p:cNvSpPr/>
          <p:nvPr/>
        </p:nvSpPr>
        <p:spPr>
          <a:xfrm>
            <a:off x="502920" y="2240280"/>
            <a:ext cx="3977640" cy="2148840"/>
          </a:xfrm>
          <a:prstGeom prst="rect">
            <a:avLst/>
          </a:prstGeom>
          <a:solidFill>
            <a:srgbClr val="F2F0E8"/>
          </a:solidFill>
          <a:ln w="9525">
            <a:solidFill>
              <a:srgbClr val="CDC9B8"/>
            </a:solidFill>
            <a:prstDash val="solid"/>
          </a:ln>
        </p:spPr>
      </p:sp>
      <p:sp>
        <p:nvSpPr>
          <p:cNvPr id="8" name="Text 6"/>
          <p:cNvSpPr/>
          <p:nvPr/>
        </p:nvSpPr>
        <p:spPr>
          <a:xfrm>
            <a:off x="731520" y="2377440"/>
            <a:ext cx="3657600" cy="274320"/>
          </a:xfrm>
          <a:prstGeom prst="rect">
            <a:avLst/>
          </a:prstGeom>
          <a:noFill/>
          <a:ln/>
        </p:spPr>
        <p:txBody>
          <a:bodyPr wrap="square" lIns="0" tIns="0" rIns="0" bIns="0" rtlCol="0" anchor="ctr"/>
          <a:lstStyle/>
          <a:p>
            <a:pPr indent="0" marL="0">
              <a:buNone/>
            </a:pPr>
            <a:r>
              <a:rPr lang="en-US" sz="1000" b="1" spc="300" kern="0" dirty="0">
                <a:solidFill>
                  <a:srgbClr val="1A7A4A"/>
                </a:solidFill>
                <a:latin typeface="Calibri" pitchFamily="34" charset="0"/>
                <a:ea typeface="Calibri" pitchFamily="34" charset="-122"/>
                <a:cs typeface="Calibri" pitchFamily="34" charset="-120"/>
              </a:rPr>
              <a:t>LA PREGUNTA</a:t>
            </a:r>
            <a:endParaRPr lang="en-US" sz="1000" dirty="0"/>
          </a:p>
        </p:txBody>
      </p:sp>
      <p:sp>
        <p:nvSpPr>
          <p:cNvPr id="9" name="Text 7"/>
          <p:cNvSpPr/>
          <p:nvPr/>
        </p:nvSpPr>
        <p:spPr>
          <a:xfrm>
            <a:off x="731520" y="2697480"/>
            <a:ext cx="3657600" cy="1600200"/>
          </a:xfrm>
          <a:prstGeom prst="rect">
            <a:avLst/>
          </a:prstGeom>
          <a:noFill/>
          <a:ln/>
        </p:spPr>
        <p:txBody>
          <a:bodyPr wrap="square" lIns="0" tIns="0" rIns="0" bIns="0" rtlCol="0" anchor="ctr"/>
          <a:lstStyle/>
          <a:p>
            <a:pPr indent="0" marL="0">
              <a:lnSpc>
                <a:spcPts val="2200"/>
              </a:lnSpc>
              <a:buNone/>
            </a:pPr>
            <a:r>
              <a:rPr lang="en-US" sz="1350" dirty="0">
                <a:solidFill>
                  <a:srgbClr val="1A1A2E"/>
                </a:solidFill>
                <a:latin typeface="Georgia" pitchFamily="34" charset="0"/>
                <a:ea typeface="Georgia" pitchFamily="34" charset="-122"/>
                <a:cs typeface="Georgia" pitchFamily="34" charset="-120"/>
              </a:rPr>
              <a:t>¿Puede un meme generado por un modelo </a:t>
            </a:r>
            <a:pPr indent="0" marL="0">
              <a:lnSpc>
                <a:spcPts val="2200"/>
              </a:lnSpc>
              <a:buNone/>
            </a:pPr>
            <a:r>
              <a:rPr lang="en-US" sz="1350" b="1" i="1" dirty="0">
                <a:solidFill>
                  <a:srgbClr val="1A1A2E"/>
                </a:solidFill>
                <a:latin typeface="Georgia" pitchFamily="34" charset="0"/>
                <a:ea typeface="Georgia" pitchFamily="34" charset="-122"/>
                <a:cs typeface="Georgia" pitchFamily="34" charset="-120"/>
              </a:rPr>
              <a:t>sin comprensión irónica</a:t>
            </a:r>
            <a:pPr indent="0" marL="0">
              <a:lnSpc>
                <a:spcPts val="2200"/>
              </a:lnSpc>
              <a:buNone/>
            </a:pPr>
            <a:r>
              <a:rPr lang="en-US" sz="1350" dirty="0">
                <a:solidFill>
                  <a:srgbClr val="1A1A2E"/>
                </a:solidFill>
                <a:latin typeface="Georgia" pitchFamily="34" charset="0"/>
                <a:ea typeface="Georgia" pitchFamily="34" charset="-122"/>
                <a:cs typeface="Georgia" pitchFamily="34" charset="-120"/>
              </a:rPr>
              <a:t> funcionar como vehículo epistémico del mismo modo que uno generado por un agente que </a:t>
            </a:r>
            <a:pPr indent="0" marL="0">
              <a:lnSpc>
                <a:spcPts val="2200"/>
              </a:lnSpc>
              <a:buNone/>
            </a:pPr>
            <a:r>
              <a:rPr lang="en-US" sz="1350" i="1" dirty="0">
                <a:solidFill>
                  <a:srgbClr val="1A1A2E"/>
                </a:solidFill>
                <a:latin typeface="Georgia" pitchFamily="34" charset="0"/>
                <a:ea typeface="Georgia" pitchFamily="34" charset="-122"/>
                <a:cs typeface="Georgia" pitchFamily="34" charset="-120"/>
              </a:rPr>
              <a:t>entiende el chiste</a:t>
            </a:r>
            <a:pPr indent="0" marL="0">
              <a:lnSpc>
                <a:spcPts val="2200"/>
              </a:lnSpc>
              <a:buNone/>
            </a:pPr>
            <a:r>
              <a:rPr lang="en-US" sz="1350" dirty="0">
                <a:solidFill>
                  <a:srgbClr val="1A1A2E"/>
                </a:solidFill>
                <a:latin typeface="Georgia" pitchFamily="34" charset="0"/>
                <a:ea typeface="Georgia" pitchFamily="34" charset="-122"/>
                <a:cs typeface="Georgia" pitchFamily="34" charset="-120"/>
              </a:rPr>
              <a:t>?</a:t>
            </a:r>
            <a:endParaRPr lang="en-US" sz="1350" dirty="0"/>
          </a:p>
        </p:txBody>
      </p:sp>
      <p:sp>
        <p:nvSpPr>
          <p:cNvPr id="10" name="Shape 8"/>
          <p:cNvSpPr/>
          <p:nvPr/>
        </p:nvSpPr>
        <p:spPr>
          <a:xfrm>
            <a:off x="4846320" y="2240280"/>
            <a:ext cx="3794760" cy="2148840"/>
          </a:xfrm>
          <a:prstGeom prst="rect">
            <a:avLst/>
          </a:prstGeom>
          <a:solidFill>
            <a:srgbClr val="1A1A2E"/>
          </a:solidFill>
          <a:ln w="12700">
            <a:solidFill>
              <a:srgbClr val="1A1A2E"/>
            </a:solidFill>
            <a:prstDash val="solid"/>
          </a:ln>
        </p:spPr>
      </p:sp>
      <p:sp>
        <p:nvSpPr>
          <p:cNvPr id="11" name="Text 9"/>
          <p:cNvSpPr/>
          <p:nvPr/>
        </p:nvSpPr>
        <p:spPr>
          <a:xfrm>
            <a:off x="5074920" y="2377440"/>
            <a:ext cx="3566160" cy="274320"/>
          </a:xfrm>
          <a:prstGeom prst="rect">
            <a:avLst/>
          </a:prstGeom>
          <a:noFill/>
          <a:ln/>
        </p:spPr>
        <p:txBody>
          <a:bodyPr wrap="square" lIns="0" tIns="0" rIns="0" bIns="0" rtlCol="0" anchor="ctr"/>
          <a:lstStyle/>
          <a:p>
            <a:pPr indent="0" marL="0">
              <a:buNone/>
            </a:pPr>
            <a:r>
              <a:rPr lang="en-US" sz="1000" b="1" spc="300" kern="0" dirty="0">
                <a:solidFill>
                  <a:srgbClr val="B5270F"/>
                </a:solidFill>
                <a:latin typeface="Calibri" pitchFamily="34" charset="0"/>
                <a:ea typeface="Calibri" pitchFamily="34" charset="-122"/>
                <a:cs typeface="Calibri" pitchFamily="34" charset="-120"/>
              </a:rPr>
              <a:t>LA RESPUESTA INCÓMODA</a:t>
            </a:r>
            <a:endParaRPr lang="en-US" sz="1000" dirty="0"/>
          </a:p>
        </p:txBody>
      </p:sp>
      <p:sp>
        <p:nvSpPr>
          <p:cNvPr id="12" name="Text 10"/>
          <p:cNvSpPr/>
          <p:nvPr/>
        </p:nvSpPr>
        <p:spPr>
          <a:xfrm>
            <a:off x="5074920" y="2697480"/>
            <a:ext cx="3429000" cy="1600200"/>
          </a:xfrm>
          <a:prstGeom prst="rect">
            <a:avLst/>
          </a:prstGeom>
          <a:noFill/>
          <a:ln/>
        </p:spPr>
        <p:txBody>
          <a:bodyPr wrap="square" lIns="0" tIns="0" rIns="0" bIns="0" rtlCol="0" anchor="ctr"/>
          <a:lstStyle/>
          <a:p>
            <a:pPr indent="0" marL="0">
              <a:lnSpc>
                <a:spcPts val="2200"/>
              </a:lnSpc>
              <a:buNone/>
            </a:pPr>
            <a:r>
              <a:rPr lang="en-US" sz="1300" i="1" dirty="0">
                <a:solidFill>
                  <a:srgbClr val="FAF9F5"/>
                </a:solidFill>
                <a:latin typeface="Georgia" pitchFamily="34" charset="0"/>
                <a:ea typeface="Georgia" pitchFamily="34" charset="-122"/>
                <a:cs typeface="Georgia" pitchFamily="34" charset="-120"/>
              </a:rPr>
              <a:t>Si lo que importa es el efecto en la circulación, la distinción entre complicidad real y simulada deja de ser operativa exactamente en el momento en que deja de ser verificable desde fuera.</a:t>
            </a:r>
            <a:endParaRPr lang="en-US" sz="1300" dirty="0"/>
          </a:p>
        </p:txBody>
      </p:sp>
      <p:sp>
        <p:nvSpPr>
          <p:cNvPr id="13" name="Text 11"/>
          <p:cNvSpPr/>
          <p:nvPr/>
        </p:nvSpPr>
        <p:spPr>
          <a:xfrm>
            <a:off x="502920" y="4480560"/>
            <a:ext cx="8229600" cy="274320"/>
          </a:xfrm>
          <a:prstGeom prst="rect">
            <a:avLst/>
          </a:prstGeom>
          <a:noFill/>
          <a:ln/>
        </p:spPr>
        <p:txBody>
          <a:bodyPr wrap="square" lIns="0" tIns="0" rIns="0" bIns="0" rtlCol="0" anchor="ctr"/>
          <a:lstStyle/>
          <a:p>
            <a:pPr algn="ctr" indent="0" marL="0">
              <a:buNone/>
            </a:pPr>
            <a:r>
              <a:rPr lang="en-US" sz="1100" i="1" dirty="0">
                <a:solidFill>
                  <a:srgbClr val="585870"/>
                </a:solidFill>
                <a:latin typeface="Georgia" pitchFamily="34" charset="0"/>
                <a:ea typeface="Georgia" pitchFamily="34" charset="-122"/>
                <a:cs typeface="Georgia" pitchFamily="34" charset="-120"/>
              </a:rPr>
              <a:t>El meme como registro de complicidad previa pierde esa condición al generarse industrialmente. La pregunta, por ahora, queda abierta.</a:t>
            </a:r>
            <a:endParaRPr lang="en-US" sz="1100" dirty="0"/>
          </a:p>
        </p:txBody>
      </p:sp>
      <p:sp>
        <p:nvSpPr>
          <p:cNvPr id="14" name="Text 12"/>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15" name="Text 13"/>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000" spc="200" kern="0" dirty="0">
                <a:solidFill>
                  <a:srgbClr val="585870"/>
                </a:solidFill>
                <a:latin typeface="Calibri" pitchFamily="34" charset="0"/>
                <a:ea typeface="Calibri" pitchFamily="34" charset="-122"/>
                <a:cs typeface="Calibri" pitchFamily="34" charset="-120"/>
              </a:rPr>
              <a:t>Diapositiva 09  ·  Implicaciones</a:t>
            </a:r>
            <a:endParaRPr lang="en-US" sz="1000" dirty="0"/>
          </a:p>
        </p:txBody>
      </p:sp>
      <p:sp>
        <p:nvSpPr>
          <p:cNvPr id="3" name="Text 1"/>
          <p:cNvSpPr/>
          <p:nvPr/>
        </p:nvSpPr>
        <p:spPr>
          <a:xfrm>
            <a:off x="502920" y="685800"/>
            <a:ext cx="8229600" cy="640080"/>
          </a:xfrm>
          <a:prstGeom prst="rect">
            <a:avLst/>
          </a:prstGeom>
          <a:noFill/>
          <a:ln/>
        </p:spPr>
        <p:txBody>
          <a:bodyPr wrap="square" lIns="0" tIns="0" rIns="0" bIns="0"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Comunicación política  ·  universidad pública</a:t>
            </a:r>
            <a:endParaRPr lang="en-US" sz="2800" dirty="0"/>
          </a:p>
        </p:txBody>
      </p:sp>
      <p:sp>
        <p:nvSpPr>
          <p:cNvPr id="4" name="Shape 2"/>
          <p:cNvSpPr/>
          <p:nvPr/>
        </p:nvSpPr>
        <p:spPr>
          <a:xfrm>
            <a:off x="502920" y="1600200"/>
            <a:ext cx="64008" cy="2926080"/>
          </a:xfrm>
          <a:prstGeom prst="rect">
            <a:avLst/>
          </a:prstGeom>
          <a:solidFill>
            <a:srgbClr val="1D4E89"/>
          </a:solidFill>
          <a:ln w="12700">
            <a:solidFill>
              <a:srgbClr val="1D4E89"/>
            </a:solidFill>
            <a:prstDash val="solid"/>
          </a:ln>
        </p:spPr>
      </p:sp>
      <p:sp>
        <p:nvSpPr>
          <p:cNvPr id="5" name="Text 3"/>
          <p:cNvSpPr/>
          <p:nvPr/>
        </p:nvSpPr>
        <p:spPr>
          <a:xfrm>
            <a:off x="731520" y="1600200"/>
            <a:ext cx="3840480" cy="274320"/>
          </a:xfrm>
          <a:prstGeom prst="rect">
            <a:avLst/>
          </a:prstGeom>
          <a:noFill/>
          <a:ln/>
        </p:spPr>
        <p:txBody>
          <a:bodyPr wrap="square" lIns="0" tIns="0" rIns="0" bIns="0" rtlCol="0" anchor="ctr"/>
          <a:lstStyle/>
          <a:p>
            <a:pPr indent="0" marL="0">
              <a:buNone/>
            </a:pPr>
            <a:r>
              <a:rPr lang="en-US" sz="1100" b="1" spc="300" kern="0" dirty="0">
                <a:solidFill>
                  <a:srgbClr val="1D4E89"/>
                </a:solidFill>
                <a:latin typeface="Calibri" pitchFamily="34" charset="0"/>
                <a:ea typeface="Calibri" pitchFamily="34" charset="-122"/>
                <a:cs typeface="Calibri" pitchFamily="34" charset="-120"/>
              </a:rPr>
              <a:t>COMUNICACIÓN POLÍTICA</a:t>
            </a:r>
            <a:endParaRPr lang="en-US" sz="1100" dirty="0"/>
          </a:p>
        </p:txBody>
      </p:sp>
      <p:sp>
        <p:nvSpPr>
          <p:cNvPr id="6" name="Text 4"/>
          <p:cNvSpPr/>
          <p:nvPr/>
        </p:nvSpPr>
        <p:spPr>
          <a:xfrm>
            <a:off x="731520" y="1920240"/>
            <a:ext cx="3840480" cy="2560320"/>
          </a:xfrm>
          <a:prstGeom prst="rect">
            <a:avLst/>
          </a:prstGeom>
          <a:noFill/>
          <a:ln/>
        </p:spPr>
        <p:txBody>
          <a:bodyPr wrap="square" lIns="0" tIns="0" rIns="0" bIns="0" rtlCol="0" anchor="ctr"/>
          <a:lstStyle/>
          <a:p>
            <a:pPr indent="0" marL="0">
              <a:lnSpc>
                <a:spcPts val="2200"/>
              </a:lnSpc>
              <a:buNone/>
            </a:pPr>
            <a:r>
              <a:rPr lang="en-US" sz="1300" dirty="0">
                <a:solidFill>
                  <a:srgbClr val="1A1A2E"/>
                </a:solidFill>
                <a:latin typeface="Georgia" pitchFamily="34" charset="0"/>
                <a:ea typeface="Georgia" pitchFamily="34" charset="-122"/>
                <a:cs typeface="Georgia" pitchFamily="34" charset="-120"/>
              </a:rPr>
              <a:t>Los manuales heredados describen un régimen (≈1965–2012) que el liderazgo memético ha vuelto operativamente obsoleto. Press release y fact-checking tradicional no tocan el fenómeno: operan en un registro al que la pieza memética es inmune por diseño.</a:t>
            </a:r>
            <a:endParaRPr lang="en-US" sz="1300" dirty="0"/>
          </a:p>
        </p:txBody>
      </p:sp>
      <p:sp>
        <p:nvSpPr>
          <p:cNvPr id="7" name="Shape 5"/>
          <p:cNvSpPr/>
          <p:nvPr/>
        </p:nvSpPr>
        <p:spPr>
          <a:xfrm>
            <a:off x="4937760" y="1600200"/>
            <a:ext cx="64008" cy="2926080"/>
          </a:xfrm>
          <a:prstGeom prst="rect">
            <a:avLst/>
          </a:prstGeom>
          <a:solidFill>
            <a:srgbClr val="B5270F"/>
          </a:solidFill>
          <a:ln w="12700">
            <a:solidFill>
              <a:srgbClr val="B5270F"/>
            </a:solidFill>
            <a:prstDash val="solid"/>
          </a:ln>
        </p:spPr>
      </p:sp>
      <p:sp>
        <p:nvSpPr>
          <p:cNvPr id="8" name="Text 6"/>
          <p:cNvSpPr/>
          <p:nvPr/>
        </p:nvSpPr>
        <p:spPr>
          <a:xfrm>
            <a:off x="5120640" y="1600200"/>
            <a:ext cx="3840480" cy="274320"/>
          </a:xfrm>
          <a:prstGeom prst="rect">
            <a:avLst/>
          </a:prstGeom>
          <a:noFill/>
          <a:ln/>
        </p:spPr>
        <p:txBody>
          <a:bodyPr wrap="square" lIns="0" tIns="0" rIns="0" bIns="0" rtlCol="0" anchor="ctr"/>
          <a:lstStyle/>
          <a:p>
            <a:pPr indent="0" marL="0">
              <a:buNone/>
            </a:pPr>
            <a:r>
              <a:rPr lang="en-US" sz="1100" b="1" spc="300" kern="0" dirty="0">
                <a:solidFill>
                  <a:srgbClr val="B5270F"/>
                </a:solidFill>
                <a:latin typeface="Calibri" pitchFamily="34" charset="0"/>
                <a:ea typeface="Calibri" pitchFamily="34" charset="-122"/>
                <a:cs typeface="Calibri" pitchFamily="34" charset="-120"/>
              </a:rPr>
              <a:t>UNIVERSIDAD PÚBLICA</a:t>
            </a:r>
            <a:endParaRPr lang="en-US" sz="1100" dirty="0"/>
          </a:p>
        </p:txBody>
      </p:sp>
      <p:sp>
        <p:nvSpPr>
          <p:cNvPr id="9" name="Text 7"/>
          <p:cNvSpPr/>
          <p:nvPr/>
        </p:nvSpPr>
        <p:spPr>
          <a:xfrm>
            <a:off x="5120640" y="1920240"/>
            <a:ext cx="3840480" cy="2560320"/>
          </a:xfrm>
          <a:prstGeom prst="rect">
            <a:avLst/>
          </a:prstGeom>
          <a:noFill/>
          <a:ln/>
        </p:spPr>
        <p:txBody>
          <a:bodyPr wrap="square" lIns="0" tIns="0" rIns="0" bIns="0" rtlCol="0" anchor="ctr"/>
          <a:lstStyle/>
          <a:p>
            <a:pPr indent="0" marL="0">
              <a:lnSpc>
                <a:spcPts val="2200"/>
              </a:lnSpc>
              <a:buNone/>
            </a:pPr>
            <a:r>
              <a:rPr lang="en-US" sz="1300" dirty="0">
                <a:solidFill>
                  <a:srgbClr val="1A1A2E"/>
                </a:solidFill>
                <a:latin typeface="Georgia" pitchFamily="34" charset="0"/>
                <a:ea typeface="Georgia" pitchFamily="34" charset="-122"/>
                <a:cs typeface="Georgia" pitchFamily="34" charset="-120"/>
              </a:rPr>
              <a:t>La universidad no corrigió nunca el pensamiento tribal: lo suspendió mediante incentivos estructurales (revisión por pares, libertad académica, estabilidad, aislamiento de la opinión pública). Cuando esos incentivos se debilitan, la ventaja competitiva de la racionalidad argumentativa desaparece también dentro del campus.</a:t>
            </a:r>
            <a:endParaRPr lang="en-US" sz="1300" dirty="0"/>
          </a:p>
        </p:txBody>
      </p:sp>
      <p:sp>
        <p:nvSpPr>
          <p:cNvPr id="10" name="Text 8"/>
          <p:cNvSpPr/>
          <p:nvPr/>
        </p:nvSpPr>
        <p:spPr>
          <a:xfrm>
            <a:off x="502920" y="4823460"/>
            <a:ext cx="6858000" cy="256032"/>
          </a:xfrm>
          <a:prstGeom prst="rect">
            <a:avLst/>
          </a:prstGeom>
          <a:noFill/>
          <a:ln/>
        </p:spPr>
        <p:txBody>
          <a:bodyPr wrap="square" lIns="0" tIns="0" rIns="0" bIns="0" rtlCol="0" anchor="ctr"/>
          <a:lstStyle/>
          <a:p>
            <a:pPr indent="0" marL="0">
              <a:buNone/>
            </a:pPr>
            <a:r>
              <a:rPr lang="en-US" sz="900" dirty="0">
                <a:solidFill>
                  <a:srgbClr val="585870"/>
                </a:solidFill>
                <a:latin typeface="Calibri" pitchFamily="34" charset="0"/>
                <a:ea typeface="Calibri" pitchFamily="34" charset="-122"/>
                <a:cs typeface="Calibri" pitchFamily="34" charset="-120"/>
              </a:rPr>
              <a:t>Memépolis-Lab  ·  Universidad de Granada  ·  DOI 10.5281/zenodo.XXXXXXX</a:t>
            </a:r>
            <a:endParaRPr lang="en-US" sz="900" dirty="0"/>
          </a:p>
        </p:txBody>
      </p:sp>
      <p:sp>
        <p:nvSpPr>
          <p:cNvPr id="11" name="Text 9"/>
          <p:cNvSpPr/>
          <p:nvPr/>
        </p:nvSpPr>
        <p:spPr>
          <a:xfrm>
            <a:off x="8092440" y="4823460"/>
            <a:ext cx="548640" cy="256032"/>
          </a:xfrm>
          <a:prstGeom prst="rect">
            <a:avLst/>
          </a:prstGeom>
          <a:noFill/>
          <a:ln/>
        </p:spPr>
        <p:txBody>
          <a:bodyPr wrap="square" lIns="0" tIns="0" rIns="0" bIns="0" rtlCol="0" anchor="ctr"/>
          <a:lstStyle/>
          <a:p>
            <a:pPr algn="r" indent="0" marL="0">
              <a:buNone/>
            </a:pPr>
            <a:r>
              <a:rPr lang="en-US" sz="900" b="1" dirty="0">
                <a:solidFill>
                  <a:srgbClr val="1D4E89"/>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502920" y="822960"/>
            <a:ext cx="32004" cy="1645920"/>
          </a:xfrm>
          <a:prstGeom prst="rect">
            <a:avLst/>
          </a:prstGeom>
          <a:solidFill>
            <a:srgbClr val="B5270F"/>
          </a:solidFill>
          <a:ln w="12700">
            <a:solidFill>
              <a:srgbClr val="B5270F"/>
            </a:solidFill>
            <a:prstDash val="solid"/>
          </a:ln>
        </p:spPr>
      </p:sp>
      <p:sp>
        <p:nvSpPr>
          <p:cNvPr id="3" name="Text 1"/>
          <p:cNvSpPr/>
          <p:nvPr/>
        </p:nvSpPr>
        <p:spPr>
          <a:xfrm>
            <a:off x="731520" y="685800"/>
            <a:ext cx="8229600" cy="548640"/>
          </a:xfrm>
          <a:prstGeom prst="rect">
            <a:avLst/>
          </a:prstGeom>
          <a:noFill/>
          <a:ln/>
        </p:spPr>
        <p:txBody>
          <a:bodyPr wrap="square" lIns="0" tIns="0" rIns="0" bIns="0" rtlCol="0" anchor="ctr"/>
          <a:lstStyle/>
          <a:p>
            <a:pPr indent="0" marL="0">
              <a:buNone/>
            </a:pPr>
            <a:r>
              <a:rPr lang="en-US" sz="2800" b="1" dirty="0">
                <a:solidFill>
                  <a:srgbClr val="FAF9F5"/>
                </a:solidFill>
                <a:latin typeface="Georgia" pitchFamily="34" charset="0"/>
                <a:ea typeface="Georgia" pitchFamily="34" charset="-122"/>
                <a:cs typeface="Georgia" pitchFamily="34" charset="-120"/>
              </a:rPr>
              <a:t>Conclusiones</a:t>
            </a:r>
            <a:endParaRPr lang="en-US" sz="2800" dirty="0"/>
          </a:p>
        </p:txBody>
      </p:sp>
      <p:sp>
        <p:nvSpPr>
          <p:cNvPr id="4" name="Text 2"/>
          <p:cNvSpPr/>
          <p:nvPr/>
        </p:nvSpPr>
        <p:spPr>
          <a:xfrm>
            <a:off x="731520" y="1280160"/>
            <a:ext cx="8229600" cy="1234440"/>
          </a:xfrm>
          <a:prstGeom prst="rect">
            <a:avLst/>
          </a:prstGeom>
          <a:noFill/>
          <a:ln/>
        </p:spPr>
        <p:txBody>
          <a:bodyPr wrap="square" lIns="0" tIns="0" rIns="0" bIns="0" rtlCol="0" anchor="ctr"/>
          <a:lstStyle/>
          <a:p>
            <a:pPr indent="0" marL="0">
              <a:lnSpc>
                <a:spcPts val="2800"/>
              </a:lnSpc>
              <a:buNone/>
            </a:pPr>
            <a:r>
              <a:rPr lang="en-US" sz="1800" i="1" dirty="0">
                <a:solidFill>
                  <a:srgbClr val="FAF9F5"/>
                </a:solidFill>
                <a:latin typeface="Georgia" pitchFamily="34" charset="0"/>
                <a:ea typeface="Georgia" pitchFamily="34" charset="-122"/>
                <a:cs typeface="Georgia" pitchFamily="34" charset="-120"/>
              </a:rPr>
              <a:t>La comunicación política se ha reorganizado en torno a una economía de la redistribución viral. El meme político no es el síntoma de esa reorganización, sino su instrumento central.</a:t>
            </a:r>
            <a:endParaRPr lang="en-US" sz="1800" dirty="0"/>
          </a:p>
        </p:txBody>
      </p:sp>
      <p:sp>
        <p:nvSpPr>
          <p:cNvPr id="5" name="Text 3"/>
          <p:cNvSpPr/>
          <p:nvPr/>
        </p:nvSpPr>
        <p:spPr>
          <a:xfrm>
            <a:off x="502920" y="2697480"/>
            <a:ext cx="4114800" cy="274320"/>
          </a:xfrm>
          <a:prstGeom prst="rect">
            <a:avLst/>
          </a:prstGeom>
          <a:noFill/>
          <a:ln/>
        </p:spPr>
        <p:txBody>
          <a:bodyPr wrap="square" lIns="0" tIns="0" rIns="0" bIns="0" rtlCol="0" anchor="ctr"/>
          <a:lstStyle/>
          <a:p>
            <a:pPr indent="0" marL="0">
              <a:buNone/>
            </a:pPr>
            <a:r>
              <a:rPr lang="en-US" sz="1000" b="1" spc="300" kern="0" dirty="0">
                <a:solidFill>
                  <a:srgbClr val="8A8A9E"/>
                </a:solidFill>
                <a:latin typeface="Calibri" pitchFamily="34" charset="0"/>
                <a:ea typeface="Calibri" pitchFamily="34" charset="-122"/>
                <a:cs typeface="Calibri" pitchFamily="34" charset="-120"/>
              </a:rPr>
              <a:t>REFERENCIAS CLAVE</a:t>
            </a:r>
            <a:endParaRPr lang="en-US" sz="1000" dirty="0"/>
          </a:p>
        </p:txBody>
      </p:sp>
      <p:sp>
        <p:nvSpPr>
          <p:cNvPr id="6" name="Text 4"/>
          <p:cNvSpPr/>
          <p:nvPr/>
        </p:nvSpPr>
        <p:spPr>
          <a:xfrm>
            <a:off x="502920" y="2971800"/>
            <a:ext cx="4114800" cy="1645920"/>
          </a:xfrm>
          <a:prstGeom prst="rect">
            <a:avLst/>
          </a:prstGeom>
          <a:noFill/>
          <a:ln/>
        </p:spPr>
        <p:txBody>
          <a:bodyPr wrap="square" lIns="0" tIns="0" rIns="0" bIns="0" rtlCol="0" anchor="ctr"/>
          <a:lstStyle/>
          <a:p>
            <a:pPr indent="0" marL="0">
              <a:lnSpc>
                <a:spcPts val="1800"/>
              </a:lnSpc>
              <a:buNone/>
            </a:pPr>
            <a:r>
              <a:rPr lang="en-US" sz="1100" dirty="0">
                <a:solidFill>
                  <a:srgbClr val="FAF9F5"/>
                </a:solidFill>
                <a:latin typeface="Georgia" pitchFamily="34" charset="0"/>
                <a:ea typeface="Georgia" pitchFamily="34" charset="-122"/>
                <a:cs typeface="Georgia" pitchFamily="34" charset="-120"/>
              </a:rPr>
              <a:t>Hall (1980)  ·  Frankfurt (2005)  ·  Baudrillard (1994)  ·  Haidt (2012)  ·  Mercier &amp; Sperber (2017)  ·  Benkler et al. (2018)  ·  Wardle &amp; Derakhshan (2017)  ·  Donovan et al. (2022)  ·  Moreno Muñoz (2026).</a:t>
            </a:r>
            <a:endParaRPr lang="en-US" sz="1100" dirty="0"/>
          </a:p>
        </p:txBody>
      </p:sp>
      <p:sp>
        <p:nvSpPr>
          <p:cNvPr id="7" name="Shape 5"/>
          <p:cNvSpPr/>
          <p:nvPr/>
        </p:nvSpPr>
        <p:spPr>
          <a:xfrm>
            <a:off x="4937760" y="2697480"/>
            <a:ext cx="3749040" cy="1874520"/>
          </a:xfrm>
          <a:prstGeom prst="rect">
            <a:avLst/>
          </a:prstGeom>
          <a:solidFill>
            <a:srgbClr val="1A1A2E">
              <a:alpha val="40000"/>
            </a:srgbClr>
          </a:solidFill>
          <a:ln w="6350">
            <a:solidFill>
              <a:srgbClr val="8A8A9E"/>
            </a:solidFill>
            <a:prstDash val="solid"/>
          </a:ln>
        </p:spPr>
      </p:sp>
      <p:sp>
        <p:nvSpPr>
          <p:cNvPr id="8" name="Text 6"/>
          <p:cNvSpPr/>
          <p:nvPr/>
        </p:nvSpPr>
        <p:spPr>
          <a:xfrm>
            <a:off x="5120640" y="2788920"/>
            <a:ext cx="3566160" cy="274320"/>
          </a:xfrm>
          <a:prstGeom prst="rect">
            <a:avLst/>
          </a:prstGeom>
          <a:noFill/>
          <a:ln/>
        </p:spPr>
        <p:txBody>
          <a:bodyPr wrap="square" lIns="0" tIns="0" rIns="0" bIns="0" rtlCol="0" anchor="ctr"/>
          <a:lstStyle/>
          <a:p>
            <a:pPr indent="0" marL="0">
              <a:buNone/>
            </a:pPr>
            <a:r>
              <a:rPr lang="en-US" sz="1000" b="1" spc="300" kern="0" dirty="0">
                <a:solidFill>
                  <a:srgbClr val="B5270F"/>
                </a:solidFill>
                <a:latin typeface="Calibri" pitchFamily="34" charset="0"/>
                <a:ea typeface="Calibri" pitchFamily="34" charset="-122"/>
                <a:cs typeface="Calibri" pitchFamily="34" charset="-120"/>
              </a:rPr>
              <a:t>CONTACTO</a:t>
            </a:r>
            <a:endParaRPr lang="en-US" sz="1000" dirty="0"/>
          </a:p>
        </p:txBody>
      </p:sp>
      <p:sp>
        <p:nvSpPr>
          <p:cNvPr id="9" name="Text 7"/>
          <p:cNvSpPr/>
          <p:nvPr/>
        </p:nvSpPr>
        <p:spPr>
          <a:xfrm>
            <a:off x="5120640" y="3108960"/>
            <a:ext cx="3566160" cy="1417320"/>
          </a:xfrm>
          <a:prstGeom prst="rect">
            <a:avLst/>
          </a:prstGeom>
          <a:noFill/>
          <a:ln/>
        </p:spPr>
        <p:txBody>
          <a:bodyPr wrap="square" lIns="0" tIns="0" rIns="0" bIns="0" rtlCol="0" anchor="ctr"/>
          <a:lstStyle/>
          <a:p>
            <a:pPr indent="0" marL="0">
              <a:lnSpc>
                <a:spcPts val="1800"/>
              </a:lnSpc>
              <a:buNone/>
            </a:pPr>
            <a:r>
              <a:rPr lang="en-US" sz="1400" b="1" dirty="0">
                <a:solidFill>
                  <a:srgbClr val="FAF9F5"/>
                </a:solidFill>
                <a:latin typeface="Calibri" pitchFamily="34" charset="0"/>
                <a:ea typeface="Calibri" pitchFamily="34" charset="-122"/>
                <a:cs typeface="Calibri" pitchFamily="34" charset="-120"/>
              </a:rPr>
              <a:t>Miguel Moreno Muñoz</a:t>
            </a:r>
            <a:endParaRPr lang="en-US" sz="1400" dirty="0"/>
          </a:p>
          <a:p>
            <a:pPr indent="0" marL="0">
              <a:lnSpc>
                <a:spcPts val="1800"/>
              </a:lnSpc>
              <a:buNone/>
            </a:pPr>
            <a:r>
              <a:rPr lang="en-US" sz="1200" dirty="0">
                <a:solidFill>
                  <a:srgbClr val="8A8A9E"/>
                </a:solidFill>
                <a:latin typeface="Calibri" pitchFamily="34" charset="0"/>
                <a:ea typeface="Calibri" pitchFamily="34" charset="-122"/>
                <a:cs typeface="Calibri" pitchFamily="34" charset="-120"/>
              </a:rPr>
              <a:t>Universidad de Granada</a:t>
            </a:r>
            <a:endParaRPr lang="en-US" sz="1400" dirty="0"/>
          </a:p>
          <a:p>
            <a:pPr indent="0" marL="0">
              <a:lnSpc>
                <a:spcPts val="1800"/>
              </a:lnSpc>
              <a:buNone/>
            </a:pPr>
            <a:r>
              <a:rPr lang="en-US" sz="1050" dirty="0">
                <a:solidFill>
                  <a:srgbClr val="8A8A9E"/>
                </a:solidFill>
                <a:latin typeface="Calibri" pitchFamily="34" charset="0"/>
                <a:ea typeface="Calibri" pitchFamily="34" charset="-122"/>
                <a:cs typeface="Calibri" pitchFamily="34" charset="-120"/>
              </a:rPr>
              <a:t>ORCID 0000-0002-0746-9587</a:t>
            </a:r>
            <a:endParaRPr lang="en-US" sz="1400" dirty="0"/>
          </a:p>
          <a:p>
            <a:pPr indent="0" marL="0">
              <a:lnSpc>
                <a:spcPts val="1800"/>
              </a:lnSpc>
              <a:buNone/>
            </a:pPr>
            <a:r>
              <a:rPr lang="en-US" sz="600" dirty="0">
                <a:solidFill>
                  <a:srgbClr val="FAF9F5"/>
                </a:solidFill>
                <a:latin typeface="Calibri" pitchFamily="34" charset="0"/>
                <a:ea typeface="Calibri" pitchFamily="34" charset="-122"/>
                <a:cs typeface="Calibri" pitchFamily="34" charset="-120"/>
              </a:rPr>
              <a:t> </a:t>
            </a:r>
            <a:endParaRPr lang="en-US" sz="1400" dirty="0"/>
          </a:p>
          <a:p>
            <a:pPr indent="0" marL="0">
              <a:lnSpc>
                <a:spcPts val="1800"/>
              </a:lnSpc>
              <a:buNone/>
            </a:pPr>
            <a:r>
              <a:rPr lang="en-US" sz="900" spc="200" kern="0" dirty="0">
                <a:solidFill>
                  <a:srgbClr val="8A8A9E"/>
                </a:solidFill>
                <a:latin typeface="Calibri" pitchFamily="34" charset="0"/>
                <a:ea typeface="Calibri" pitchFamily="34" charset="-122"/>
                <a:cs typeface="Calibri" pitchFamily="34" charset="-120"/>
              </a:rPr>
              <a:t>DOI del proyecto</a:t>
            </a:r>
            <a:endParaRPr lang="en-US" sz="1400" dirty="0"/>
          </a:p>
          <a:p>
            <a:pPr indent="0" marL="0">
              <a:lnSpc>
                <a:spcPts val="1800"/>
              </a:lnSpc>
              <a:buNone/>
            </a:pPr>
            <a:r>
              <a:rPr lang="en-US" sz="1200" dirty="0">
                <a:solidFill>
                  <a:srgbClr val="FAF9F5"/>
                </a:solidFill>
                <a:latin typeface="Consolas" pitchFamily="34" charset="0"/>
                <a:ea typeface="Consolas" pitchFamily="34" charset="-122"/>
                <a:cs typeface="Consolas" pitchFamily="34" charset="-120"/>
              </a:rPr>
              <a:t>10.5281/zenodo.XXXXXXX</a:t>
            </a:r>
            <a:endParaRPr lang="en-US" sz="1400" dirty="0"/>
          </a:p>
        </p:txBody>
      </p:sp>
      <p:sp>
        <p:nvSpPr>
          <p:cNvPr id="10" name="Text 8"/>
          <p:cNvSpPr/>
          <p:nvPr/>
        </p:nvSpPr>
        <p:spPr>
          <a:xfrm>
            <a:off x="502920" y="4732020"/>
            <a:ext cx="8138160" cy="274320"/>
          </a:xfrm>
          <a:prstGeom prst="rect">
            <a:avLst/>
          </a:prstGeom>
          <a:noFill/>
          <a:ln/>
        </p:spPr>
        <p:txBody>
          <a:bodyPr wrap="square" lIns="0" tIns="0" rIns="0" bIns="0" rtlCol="0" anchor="ctr"/>
          <a:lstStyle/>
          <a:p>
            <a:pPr algn="ctr" indent="0" marL="0">
              <a:buNone/>
            </a:pPr>
            <a:r>
              <a:rPr lang="en-US" sz="1100" i="1" dirty="0">
                <a:solidFill>
                  <a:srgbClr val="8A8A9E"/>
                </a:solidFill>
                <a:latin typeface="Georgia" pitchFamily="34" charset="0"/>
                <a:ea typeface="Georgia" pitchFamily="34" charset="-122"/>
                <a:cs typeface="Georgia" pitchFamily="34" charset="-120"/>
              </a:rPr>
              <a:t>—  gracias por su atención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Universidad de Granada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Memépolis-Lab</dc:title>
  <dc:subject>Análisis computacional de la erosión epistémica (2023–2026)</dc:subject>
  <dc:creator>Miguel Moreno Muñoz</dc:creator>
  <cp:lastModifiedBy>Miguel Moreno Muñoz</cp:lastModifiedBy>
  <cp:revision>1</cp:revision>
  <dcterms:created xsi:type="dcterms:W3CDTF">2026-04-17T18:55:03Z</dcterms:created>
  <dcterms:modified xsi:type="dcterms:W3CDTF">2026-04-17T18:55:03Z</dcterms:modified>
</cp:coreProperties>
</file>